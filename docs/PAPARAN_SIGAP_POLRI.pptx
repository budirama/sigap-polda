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an" id="{83e1f25f-0768-7a21-179e-bea8fb199185}">
          <p14:sldIdLst>
            <p14:sldId id="256"/>
          </p14:sldIdLst>
        </p14:section>
        <p14:section name="Latar Belakang" id="{0a67aac2-ce1a-c6af-4f53-823e03494da8}">
          <p14:sldIdLst>
            <p14:sldId id="257"/>
            <p14:sldId id="258"/>
            <p14:sldId id="259"/>
          </p14:sldIdLst>
        </p14:section>
        <p14:section name="Gambaran Sistem" id="{e1fb7c6b-45be-c5ce-970c-372f10fab8b9}">
          <p14:sldIdLst>
            <p14:sldId id="260"/>
            <p14:sldId id="261"/>
          </p14:sldIdLst>
        </p14:section>
        <p14:section name="Pilar I — Pengaduan" id="{615b9322-1431-caa5-d9ac-f48d585cd043}">
          <p14:sldIdLst>
            <p14:sldId id="262"/>
            <p14:sldId id="263"/>
            <p14:sldId id="264"/>
          </p14:sldIdLst>
        </p14:section>
        <p14:section name="Pilar II — Satu Nomor" id="{6af1f83b-3e8e-63ba-9bef-2ec93c4c84b7}">
          <p14:sldIdLst>
            <p14:sldId id="265"/>
            <p14:sldId id="266"/>
            <p14:sldId id="267"/>
          </p14:sldIdLst>
        </p14:section>
        <p14:section name="Pilar III — Posko" id="{8cc9dca6-56ac-4224-f40a-f2cfd40ebe4c}">
          <p14:sldIdLst>
            <p14:sldId id="268"/>
          </p14:sldIdLst>
        </p14:section>
        <p14:section name="Komando &amp; Pengawasan" id="{ea487dac-c7af-5594-d172-eb6b65fd8f1b}">
          <p14:sldIdLst>
            <p14:sldId id="269"/>
            <p14:sldId id="270"/>
          </p14:sldIdLst>
        </p14:section>
        <p14:section name="Pelaksanaan" id="{2008e64e-3b5b-0863-db95-a0d7428ccf53}">
          <p14:sldIdLst>
            <p14:sldId id="271"/>
            <p14:sldId id="272"/>
          </p14:sldIdLst>
        </p14:section>
        <p14:section name="Penutup" id="{93960d69-365b-8229-fcc7-28fb507397d1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Pembukaan. SIGAP-POLRI adalah platform satu pintu penanganan pengaduan masyarakat, pelacakan layanan terpadu, dan pelaporan posko berjenjang — selaras semangat Polisi Bersama Masyarakat.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inti yang melatarbelakangi SIGAP: laporan tercecer, aduan viral di media sosial, silo antar satuan kerja, dan minimnya visibilitas pimpinan.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utama: sistem memaksa alur lapor–verifikasi–tangani–kabarkan–selesaikan, sehingga warga tidak perlu memviralkan untuk diperhatikan.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Tujuh pergeseran paradigma yang diwujudkan oleh fitur-fitur SIGAP.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SIGAP terdiri dari tiga pilar yang berbagi satu fondasi: login aman, RBAC, audit, dan tema antarmuka Polri.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lima lapis: data masuk dari berbagai kanal, lolos gerbang identitas dan keamanan, diproses di modul, setiap perubahan status diterbitkan sebagai event, lalu diolah menjadi satu data untuk pimpinan.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Lima kanal masuk. Apa pun kanalnya, warga mendapat satu nomor tiket dan PIN yang sama untuk pelacakan.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1 menerima dan memilah laporan; Alur 2 mengerjakan perkara sampai selesai. Jalur cepat Atensi Kapolri untuk kasus menonjol.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Hak akses berbasis peran (RBAC). Setiap peran hanya melihat dan melakukan yang menjadi kewenangannya; Superadmin masuk lewat portal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nomor lacak global lahir saat kontak pertama dan dibawa sampai perkara selesai. Contoh: POL-202610-110-8924A.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Delapan modul quick win One Police Service. Semuanya berbagi satu nomor lacak, event bus, dan kepatuhan UU PDP.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100 hari menjawab enam pertanyaan strategis (hal. 41 paparan prioritas Kapolri). Pertanyaan 5 dan 6 sengaja menampilkan kegagalan secara terbuka.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Posko: pelaporan operasional internal yang naik dari Polsek ke Mabes, dengan verifikasi, revisi tercatat, rekap otomatis, laporan nihil, dan pemantauan kepatuhan tenggat.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eksekutif: peta panas, KPI, daftar pantau SLA, tombol Atensi Kapolri, dan telusur sampai penyidik.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Kepatuhan UU PDP: enkripsi, masking, dual-control dengan alasan dinas, dan alarm lintas yurisdiksi ke Divpropam.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Kesiapan teknis: platform ringan, modul dapat diatur Superadmin, installer dan paket cPanel, adapter sandbox/live, event bus, dan 171+ uji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100 hari tiga tahap, ditutup peluncuran dashboard akuntabilitas publik di hari ke-100.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dan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AMPU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SI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U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Polisi Bersama Masyarak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228600"/>
            <a:ext cx="713232" cy="875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5584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chemeClr val="accent1"/>
                </a:solidFill>
              </a:rPr>
              <a:t>INTEGRITAS  •  SOLIDITAS  •  SINERGITAS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mbang Tribrata Pol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841248" cy="828446"/>
          </a:xfrm>
          <a:prstGeom prst="rect">
            <a:avLst/>
          </a:prstGeom>
        </p:spPr>
      </p:pic>
      <p:pic>
        <p:nvPicPr>
          <p:cNvPr id="3" name="Image 1" descr="Logo Polisi Bersama Masyarak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822960"/>
            <a:ext cx="2834640" cy="348020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PAPARAN SISTEM</a:t>
            </a:r>
            <a:endParaRPr lang="en-US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SIGAP-POLRI</a:t>
            </a:r>
            <a:endParaRPr lang="en-US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291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Integrasi Pengaduan &amp; Dumas Terpadu Polri</a:t>
            </a:r>
            <a:endParaRPr lang="en-US" sz="2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Nomor, Satu Jejak — dari laporan warga sampai meja pimpinan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JAKARTA, 20 OKTOBER 2026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4526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MELINDUNGI, MENGAYOMI DAN MELAYANI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SUARA MASYARAKAT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Kegelisahan yang Harus Dijawab</a:t>
            </a:r>
            <a:endParaRPr lang="en-US" sz="3400" dirty="0"/>
          </a:p>
        </p:txBody>
      </p:sp>
      <p:sp>
        <p:nvSpPr>
          <p:cNvPr id="4" name="kartu-1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2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39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Tercecer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tidak tahu perkembangan perkara; harus datang dan bertanya sendiri.</a:t>
            </a:r>
            <a:endParaRPr lang="en-US" sz="1500" dirty="0"/>
          </a:p>
        </p:txBody>
      </p:sp>
      <p:sp>
        <p:nvSpPr>
          <p:cNvPr id="9" name="kartu-3"/>
          <p:cNvSpPr/>
          <p:nvPr/>
        </p:nvSpPr>
        <p:spPr>
          <a:xfrm>
            <a:off x="4297680" y="1691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lingkar-4"/>
          <p:cNvSpPr/>
          <p:nvPr/>
        </p:nvSpPr>
        <p:spPr>
          <a:xfrm>
            <a:off x="457200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Bullho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144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039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Ledakan Aduan Viral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Keluhan di X, Instagram, TikTok, Facebook viral dulu, tidak tercatat di register resmi.</a:t>
            </a:r>
            <a:endParaRPr lang="en-US" sz="1500" dirty="0"/>
          </a:p>
        </p:txBody>
      </p:sp>
      <p:sp>
        <p:nvSpPr>
          <p:cNvPr id="14" name="kartu-5"/>
          <p:cNvSpPr/>
          <p:nvPr/>
        </p:nvSpPr>
        <p:spPr>
          <a:xfrm>
            <a:off x="548640" y="3977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ingkar-6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Site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4302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Antar Satker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 SPKT, Reskrim, Siber, Lantas, Propam, dan Polres masih manual dan panjang.</a:t>
            </a:r>
            <a:endParaRPr lang="en-US" sz="1500" dirty="0"/>
          </a:p>
        </p:txBody>
      </p:sp>
      <p:sp>
        <p:nvSpPr>
          <p:cNvPr id="19" name="kartu-7"/>
          <p:cNvSpPr/>
          <p:nvPr/>
        </p:nvSpPr>
        <p:spPr>
          <a:xfrm>
            <a:off x="4297680" y="3977640"/>
            <a:ext cx="3520440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ingkar-8"/>
          <p:cNvSpPr/>
          <p:nvPr/>
        </p:nvSpPr>
        <p:spPr>
          <a:xfrm>
            <a:off x="457200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EyeSla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44302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Kurang Visibilitas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kerawanan, perkara macet, dan sentimen publik tidak terlihat real time.</a:t>
            </a:r>
            <a:endParaRPr lang="en-US" sz="1500" dirty="0"/>
          </a:p>
        </p:txBody>
      </p:sp>
      <p:sp>
        <p:nvSpPr>
          <p:cNvPr id="24" name="kartu-9"/>
          <p:cNvSpPr/>
          <p:nvPr/>
        </p:nvSpPr>
        <p:spPr>
          <a:xfrm>
            <a:off x="8183880" y="1691640"/>
            <a:ext cx="3456432" cy="4343400"/>
          </a:xfrm>
          <a:prstGeom prst="roundRect">
            <a:avLst>
              <a:gd name="adj" fmla="val 317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ingkar-10"/>
          <p:cNvSpPr/>
          <p:nvPr/>
        </p:nvSpPr>
        <p:spPr>
          <a:xfrm>
            <a:off x="8503920" y="20116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4" descr="FaBalance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15" y="2201875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503920" y="29260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“Negara harus hadir sebelum masyarakat terpaksa memviralkan.”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8503920" y="4663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berhak tahu perkembangan perkaranya tanpa harus mencari jalur informal.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YANG HARUS DIUBAH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Menunggu Viral ke Dikabarkan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</a:t>
            </a:r>
            <a:endParaRPr lang="en-US" sz="2600" dirty="0"/>
          </a:p>
        </p:txBody>
      </p:sp>
      <p:sp>
        <p:nvSpPr>
          <p:cNvPr id="5" name="kartu-11"/>
          <p:cNvSpPr/>
          <p:nvPr/>
        </p:nvSpPr>
        <p:spPr>
          <a:xfrm>
            <a:off x="2194560" y="178308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6B161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19456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</a:t>
            </a:r>
            <a:endParaRPr lang="en-US" sz="2000" dirty="0"/>
          </a:p>
        </p:txBody>
      </p:sp>
      <p:sp>
        <p:nvSpPr>
          <p:cNvPr id="8" name="kartu-12"/>
          <p:cNvSpPr/>
          <p:nvPr/>
        </p:nvSpPr>
        <p:spPr>
          <a:xfrm>
            <a:off x="4572000" y="178308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6B161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7830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</a:t>
            </a:r>
            <a:endParaRPr lang="en-US" sz="2000" dirty="0"/>
          </a:p>
        </p:txBody>
      </p:sp>
      <p:sp>
        <p:nvSpPr>
          <p:cNvPr id="11" name="kartu-13"/>
          <p:cNvSpPr/>
          <p:nvPr/>
        </p:nvSpPr>
        <p:spPr>
          <a:xfrm>
            <a:off x="6949440" y="178308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6B161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4944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7830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</a:t>
            </a:r>
            <a:endParaRPr lang="en-US" sz="2000" dirty="0"/>
          </a:p>
        </p:txBody>
      </p:sp>
      <p:sp>
        <p:nvSpPr>
          <p:cNvPr id="14" name="kartu-14"/>
          <p:cNvSpPr/>
          <p:nvPr/>
        </p:nvSpPr>
        <p:spPr>
          <a:xfrm>
            <a:off x="9326880" y="1783080"/>
            <a:ext cx="201168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rgbClr val="6B161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268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diperhatikan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10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TETAPI</a:t>
            </a:r>
            <a:endParaRPr lang="en-US" sz="2600" dirty="0"/>
          </a:p>
        </p:txBody>
      </p:sp>
      <p:sp>
        <p:nvSpPr>
          <p:cNvPr id="17" name="kartu-15"/>
          <p:cNvSpPr/>
          <p:nvPr/>
        </p:nvSpPr>
        <p:spPr>
          <a:xfrm>
            <a:off x="2194560" y="2880360"/>
            <a:ext cx="1627632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lingkar-16"/>
          <p:cNvSpPr/>
          <p:nvPr/>
        </p:nvSpPr>
        <p:spPr>
          <a:xfrm>
            <a:off x="2734056" y="2990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0" descr="FaIn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702" y="3132734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2194560" y="36118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822192" y="288036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kartu-17"/>
          <p:cNvSpPr/>
          <p:nvPr/>
        </p:nvSpPr>
        <p:spPr>
          <a:xfrm>
            <a:off x="4096512" y="2880360"/>
            <a:ext cx="1627632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lingkar-18"/>
          <p:cNvSpPr/>
          <p:nvPr/>
        </p:nvSpPr>
        <p:spPr>
          <a:xfrm>
            <a:off x="4636008" y="2990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Image 1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54" y="3132734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096512" y="36118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Diverifikasi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5724144" y="288036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kartu-19"/>
          <p:cNvSpPr/>
          <p:nvPr/>
        </p:nvSpPr>
        <p:spPr>
          <a:xfrm>
            <a:off x="5998464" y="2880360"/>
            <a:ext cx="1627632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lingkar-20"/>
          <p:cNvSpPr/>
          <p:nvPr/>
        </p:nvSpPr>
        <p:spPr>
          <a:xfrm>
            <a:off x="6537960" y="2990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2" descr="FaUserEd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3132734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998464" y="36118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Ditangani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7626096" y="288036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kartu-21"/>
          <p:cNvSpPr/>
          <p:nvPr/>
        </p:nvSpPr>
        <p:spPr>
          <a:xfrm>
            <a:off x="7900416" y="2880360"/>
            <a:ext cx="1627632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lingkar-22"/>
          <p:cNvSpPr/>
          <p:nvPr/>
        </p:nvSpPr>
        <p:spPr>
          <a:xfrm>
            <a:off x="8439912" y="2990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3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558" y="3132734"/>
            <a:ext cx="263347" cy="26334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900416" y="36118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Dikabarkan</a:t>
            </a:r>
            <a:endParaRPr lang="en-US" sz="1700" dirty="0"/>
          </a:p>
        </p:txBody>
      </p:sp>
      <p:sp>
        <p:nvSpPr>
          <p:cNvPr id="36" name="Text 30"/>
          <p:cNvSpPr txBox="1"/>
          <p:nvPr/>
        </p:nvSpPr>
        <p:spPr>
          <a:xfrm>
            <a:off x="9528048" y="2880360"/>
            <a:ext cx="274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7" name="kartu-23"/>
          <p:cNvSpPr/>
          <p:nvPr/>
        </p:nvSpPr>
        <p:spPr>
          <a:xfrm>
            <a:off x="9802368" y="2880360"/>
            <a:ext cx="1627632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lingkar-24"/>
          <p:cNvSpPr/>
          <p:nvPr/>
        </p:nvSpPr>
        <p:spPr>
          <a:xfrm>
            <a:off x="10341864" y="299008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9" name="Image 4" descr="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510" y="3132734"/>
            <a:ext cx="263347" cy="26334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802368" y="36118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Diselesaikan</a:t>
            </a:r>
            <a:endParaRPr lang="en-US" sz="1700" dirty="0"/>
          </a:p>
        </p:txBody>
      </p:sp>
      <p:sp>
        <p:nvSpPr>
          <p:cNvPr id="41" name="kartu-25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lingkar-26"/>
          <p:cNvSpPr/>
          <p:nvPr/>
        </p:nvSpPr>
        <p:spPr>
          <a:xfrm>
            <a:off x="868680" y="5001768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Image 5" descr="FaRou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762" y="5203850"/>
            <a:ext cx="373075" cy="373075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874520" y="48920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 menjadikan logika baru ini alur sistem: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laporan tercatat dengan satu nomor, setiap tahap terekam waktunya, setiap perkembangan dikirim ke pelapor — dan setiap keterlambatan terlihat oleh pimpinan.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PERUBAHAN PARADIGMA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Pelayanan Pengaduan Polri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</a:t>
            </a:r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463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</a:t>
            </a:r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1800" dirty="0"/>
          </a:p>
        </p:txBody>
      </p:sp>
      <p:sp>
        <p:nvSpPr>
          <p:cNvPr id="6" name="kartu-27"/>
          <p:cNvSpPr/>
          <p:nvPr/>
        </p:nvSpPr>
        <p:spPr>
          <a:xfrm>
            <a:off x="548640" y="1901952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lingkar-28"/>
          <p:cNvSpPr/>
          <p:nvPr/>
        </p:nvSpPr>
        <p:spPr>
          <a:xfrm>
            <a:off x="603504" y="1947672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FaRand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21" y="2061789"/>
            <a:ext cx="210678" cy="2106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90195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berbeda di 110, SPKT, e-MP, dan Dumas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90195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11" name="kartu-29"/>
          <p:cNvSpPr/>
          <p:nvPr/>
        </p:nvSpPr>
        <p:spPr>
          <a:xfrm>
            <a:off x="6492240" y="1901952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lingkar-30"/>
          <p:cNvSpPr/>
          <p:nvPr/>
        </p:nvSpPr>
        <p:spPr>
          <a:xfrm>
            <a:off x="6547104" y="194767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Fingerpri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221" y="2061789"/>
            <a:ext cx="210678" cy="21067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190195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Nomor, Satu Jejak sejak kontak pertama</a:t>
            </a:r>
            <a:endParaRPr lang="en-US" sz="1500" dirty="0"/>
          </a:p>
        </p:txBody>
      </p:sp>
      <p:sp>
        <p:nvSpPr>
          <p:cNvPr id="15" name="kartu-31"/>
          <p:cNvSpPr/>
          <p:nvPr/>
        </p:nvSpPr>
        <p:spPr>
          <a:xfrm>
            <a:off x="548640" y="2514600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lingkar-32"/>
          <p:cNvSpPr/>
          <p:nvPr/>
        </p:nvSpPr>
        <p:spPr>
          <a:xfrm>
            <a:off x="603504" y="256032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1" y="2674437"/>
            <a:ext cx="210678" cy="21067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8720" y="25146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 yang menanyakan perkara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394960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20" name="kartu-33"/>
          <p:cNvSpPr/>
          <p:nvPr/>
        </p:nvSpPr>
        <p:spPr>
          <a:xfrm>
            <a:off x="6492240" y="2514600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lingkar-34"/>
          <p:cNvSpPr/>
          <p:nvPr/>
        </p:nvSpPr>
        <p:spPr>
          <a:xfrm>
            <a:off x="6547104" y="25603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221" y="2674437"/>
            <a:ext cx="210678" cy="21067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251460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mengabari pelapor lewat SP2HP-E A1–A5</a:t>
            </a:r>
            <a:endParaRPr lang="en-US" sz="1500" dirty="0"/>
          </a:p>
        </p:txBody>
      </p:sp>
      <p:sp>
        <p:nvSpPr>
          <p:cNvPr id="24" name="kartu-35"/>
          <p:cNvSpPr/>
          <p:nvPr/>
        </p:nvSpPr>
        <p:spPr>
          <a:xfrm>
            <a:off x="548640" y="3127248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ingkar-36"/>
          <p:cNvSpPr/>
          <p:nvPr/>
        </p:nvSpPr>
        <p:spPr>
          <a:xfrm>
            <a:off x="603504" y="317296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4" descr="FaHasht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21" y="3287085"/>
            <a:ext cx="210678" cy="21067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88720" y="31272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Aduan viral di medsos tidak tercatat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394960" y="312724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29" name="kartu-37"/>
          <p:cNvSpPr/>
          <p:nvPr/>
        </p:nvSpPr>
        <p:spPr>
          <a:xfrm>
            <a:off x="6492240" y="3127248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lingkar-38"/>
          <p:cNvSpPr/>
          <p:nvPr/>
        </p:nvSpPr>
        <p:spPr>
          <a:xfrm>
            <a:off x="6547104" y="317296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FaExchange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221" y="3287085"/>
            <a:ext cx="210678" cy="21067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32320" y="312724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1-klik konversi aduan medsos menjadi tiket resmi</a:t>
            </a:r>
            <a:endParaRPr lang="en-US" sz="1500" dirty="0"/>
          </a:p>
        </p:txBody>
      </p:sp>
      <p:sp>
        <p:nvSpPr>
          <p:cNvPr id="33" name="kartu-39"/>
          <p:cNvSpPr/>
          <p:nvPr/>
        </p:nvSpPr>
        <p:spPr>
          <a:xfrm>
            <a:off x="548640" y="3739896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lingkar-40"/>
          <p:cNvSpPr/>
          <p:nvPr/>
        </p:nvSpPr>
        <p:spPr>
          <a:xfrm>
            <a:off x="603504" y="378561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mage 6" descr="FaB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21" y="3899733"/>
            <a:ext cx="210678" cy="21067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188720" y="37398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ditolak, warga disuruh pulang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5394960" y="37398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38" name="kartu-41"/>
          <p:cNvSpPr/>
          <p:nvPr/>
        </p:nvSpPr>
        <p:spPr>
          <a:xfrm>
            <a:off x="6492240" y="3739896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lingkar-42"/>
          <p:cNvSpPr/>
          <p:nvPr/>
        </p:nvSpPr>
        <p:spPr>
          <a:xfrm>
            <a:off x="6547104" y="378561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7" descr="FaHandHoldingHear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221" y="3899733"/>
            <a:ext cx="210678" cy="21067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132320" y="373989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Rejection dan rujukan antar-satker</a:t>
            </a:r>
            <a:endParaRPr lang="en-US" sz="1500" dirty="0"/>
          </a:p>
        </p:txBody>
      </p:sp>
      <p:sp>
        <p:nvSpPr>
          <p:cNvPr id="42" name="kartu-43"/>
          <p:cNvSpPr/>
          <p:nvPr/>
        </p:nvSpPr>
        <p:spPr>
          <a:xfrm>
            <a:off x="548640" y="4352544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lingkar-44"/>
          <p:cNvSpPr/>
          <p:nvPr/>
        </p:nvSpPr>
        <p:spPr>
          <a:xfrm>
            <a:off x="603504" y="4398264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4" name="Image 8" descr="FaChartLi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621" y="4512381"/>
            <a:ext cx="210678" cy="21067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188720" y="435254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 = jumlah kegiatan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5394960" y="43525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47" name="kartu-45"/>
          <p:cNvSpPr/>
          <p:nvPr/>
        </p:nvSpPr>
        <p:spPr>
          <a:xfrm>
            <a:off x="6492240" y="4352544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lingkar-46"/>
          <p:cNvSpPr/>
          <p:nvPr/>
        </p:nvSpPr>
        <p:spPr>
          <a:xfrm>
            <a:off x="6547104" y="43982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9" name="Image 9" descr="FaCheckCirc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1221" y="4512381"/>
            <a:ext cx="210678" cy="210678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132320" y="435254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 = waktu respons, SLA, perkara tuntas</a:t>
            </a:r>
            <a:endParaRPr lang="en-US" sz="1500" dirty="0"/>
          </a:p>
        </p:txBody>
      </p:sp>
      <p:sp>
        <p:nvSpPr>
          <p:cNvPr id="51" name="kartu-47"/>
          <p:cNvSpPr/>
          <p:nvPr/>
        </p:nvSpPr>
        <p:spPr>
          <a:xfrm>
            <a:off x="548640" y="4965192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lingkar-48"/>
          <p:cNvSpPr/>
          <p:nvPr/>
        </p:nvSpPr>
        <p:spPr>
          <a:xfrm>
            <a:off x="603504" y="5010912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3" name="Image 10" descr="FaEy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621" y="5125029"/>
            <a:ext cx="210678" cy="21067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1188720" y="496519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pribadi pelapor mudah terlihat</a:t>
            </a:r>
            <a:endParaRPr lang="en-US" sz="1500" dirty="0"/>
          </a:p>
        </p:txBody>
      </p:sp>
      <p:sp>
        <p:nvSpPr>
          <p:cNvPr id="55" name="Text 42"/>
          <p:cNvSpPr txBox="1"/>
          <p:nvPr/>
        </p:nvSpPr>
        <p:spPr>
          <a:xfrm>
            <a:off x="5394960" y="49651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56" name="kartu-49"/>
          <p:cNvSpPr/>
          <p:nvPr/>
        </p:nvSpPr>
        <p:spPr>
          <a:xfrm>
            <a:off x="6492240" y="4965192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lingkar-50"/>
          <p:cNvSpPr/>
          <p:nvPr/>
        </p:nvSpPr>
        <p:spPr>
          <a:xfrm>
            <a:off x="6547104" y="501091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8" name="Image 11" descr="FaLock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1221" y="5125029"/>
            <a:ext cx="210678" cy="210678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7132320" y="496519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terenkripsi, tampilan disamarkan, akses diaudit</a:t>
            </a:r>
            <a:endParaRPr lang="en-US" sz="1500" dirty="0"/>
          </a:p>
        </p:txBody>
      </p:sp>
      <p:sp>
        <p:nvSpPr>
          <p:cNvPr id="60" name="kartu-51"/>
          <p:cNvSpPr/>
          <p:nvPr/>
        </p:nvSpPr>
        <p:spPr>
          <a:xfrm>
            <a:off x="548640" y="5577840"/>
            <a:ext cx="4754880" cy="5303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1" name="lingkar-52"/>
          <p:cNvSpPr/>
          <p:nvPr/>
        </p:nvSpPr>
        <p:spPr>
          <a:xfrm>
            <a:off x="603504" y="562356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2" name="Image 12" descr="FaClipboardLis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621" y="5737677"/>
            <a:ext cx="210678" cy="210678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1188720" y="55778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posko manual dari bawah ke atas</a:t>
            </a:r>
            <a:endParaRPr lang="en-US" sz="1500" dirty="0"/>
          </a:p>
        </p:txBody>
      </p:sp>
      <p:sp>
        <p:nvSpPr>
          <p:cNvPr id="64" name="Text 49"/>
          <p:cNvSpPr txBox="1"/>
          <p:nvPr/>
        </p:nvSpPr>
        <p:spPr>
          <a:xfrm>
            <a:off x="5394960" y="55778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››››</a:t>
            </a:r>
            <a:endParaRPr lang="en-US" sz="2200" dirty="0"/>
          </a:p>
        </p:txBody>
      </p:sp>
      <p:sp>
        <p:nvSpPr>
          <p:cNvPr id="65" name="kartu-53"/>
          <p:cNvSpPr/>
          <p:nvPr/>
        </p:nvSpPr>
        <p:spPr>
          <a:xfrm>
            <a:off x="6492240" y="5577840"/>
            <a:ext cx="5148072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lingkar-54"/>
          <p:cNvSpPr/>
          <p:nvPr/>
        </p:nvSpPr>
        <p:spPr>
          <a:xfrm>
            <a:off x="6547104" y="56235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7" name="Image 13" descr="FaLayerGroup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221" y="5737677"/>
            <a:ext cx="210678" cy="210678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7132320" y="557784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berjenjang otomatis Polsek s.d. Mabes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UMUM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Platform, Tiga Pilar</a:t>
            </a:r>
            <a:endParaRPr lang="en-US" sz="3400" dirty="0"/>
          </a:p>
        </p:txBody>
      </p:sp>
      <p:sp>
        <p:nvSpPr>
          <p:cNvPr id="4" name="kartu-55"/>
          <p:cNvSpPr/>
          <p:nvPr/>
        </p:nvSpPr>
        <p:spPr>
          <a:xfrm>
            <a:off x="548640" y="1645920"/>
            <a:ext cx="3575304" cy="2697480"/>
          </a:xfrm>
          <a:prstGeom prst="roundRect">
            <a:avLst>
              <a:gd name="adj" fmla="val 406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56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Pengaduan &amp; Dumas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warga, medsos, live chat, SPKT, disposisi satker, penyidikan, SP2HP-E, survei kepuasan.</a:t>
            </a:r>
            <a:endParaRPr lang="en-US" sz="1500" dirty="0"/>
          </a:p>
        </p:txBody>
      </p:sp>
      <p:sp>
        <p:nvSpPr>
          <p:cNvPr id="10" name="kartu-57"/>
          <p:cNvSpPr/>
          <p:nvPr/>
        </p:nvSpPr>
        <p:spPr>
          <a:xfrm>
            <a:off x="4306824" y="1645920"/>
            <a:ext cx="3575304" cy="2697480"/>
          </a:xfrm>
          <a:prstGeom prst="roundRect">
            <a:avLst>
              <a:gd name="adj" fmla="val 406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lingkar-58"/>
          <p:cNvSpPr/>
          <p:nvPr/>
        </p:nvSpPr>
        <p:spPr>
          <a:xfrm>
            <a:off x="4581144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FaFingerpri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226" y="21223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41264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II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541264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Nomor, Satu Jejak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81144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modul quick win One Police Service: 110, SPKT, perkara, Dumas, siber, Bhabin, dashboard 100 hari.</a:t>
            </a:r>
            <a:endParaRPr lang="en-US" sz="1500" dirty="0"/>
          </a:p>
        </p:txBody>
      </p:sp>
      <p:sp>
        <p:nvSpPr>
          <p:cNvPr id="16" name="kartu-59"/>
          <p:cNvSpPr/>
          <p:nvPr/>
        </p:nvSpPr>
        <p:spPr>
          <a:xfrm>
            <a:off x="8065008" y="1645920"/>
            <a:ext cx="3575304" cy="2697480"/>
          </a:xfrm>
          <a:prstGeom prst="roundRect">
            <a:avLst>
              <a:gd name="adj" fmla="val 406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lingkar-60"/>
          <p:cNvSpPr/>
          <p:nvPr/>
        </p:nvSpPr>
        <p:spPr>
          <a:xfrm>
            <a:off x="8339328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FaSite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410" y="21223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99448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III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299448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Posko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39328" y="29260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operasional berjenjang Polsek → Polres → Polda → Mabes dengan verifikasi dan rekap.</a:t>
            </a:r>
            <a:endParaRPr lang="en-US" sz="1500" dirty="0"/>
          </a:p>
        </p:txBody>
      </p:sp>
      <p:sp>
        <p:nvSpPr>
          <p:cNvPr id="22" name="kartu-61"/>
          <p:cNvSpPr/>
          <p:nvPr/>
        </p:nvSpPr>
        <p:spPr>
          <a:xfrm>
            <a:off x="548640" y="4572000"/>
            <a:ext cx="263347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77240" y="46451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pengguna dengan hak akses terpisah</a:t>
            </a:r>
            <a:endParaRPr lang="en-US" sz="1400" dirty="0"/>
          </a:p>
        </p:txBody>
      </p:sp>
      <p:sp>
        <p:nvSpPr>
          <p:cNvPr id="25" name="kartu-62"/>
          <p:cNvSpPr/>
          <p:nvPr/>
        </p:nvSpPr>
        <p:spPr>
          <a:xfrm>
            <a:off x="3364992" y="4572000"/>
            <a:ext cx="263347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3593592" y="46451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27" name="Text 22"/>
          <p:cNvSpPr txBox="1"/>
          <p:nvPr/>
        </p:nvSpPr>
        <p:spPr>
          <a:xfrm>
            <a:off x="3593592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quick win layanan terpadu</a:t>
            </a:r>
            <a:endParaRPr lang="en-US" sz="1400" dirty="0"/>
          </a:p>
        </p:txBody>
      </p:sp>
      <p:sp>
        <p:nvSpPr>
          <p:cNvPr id="28" name="kartu-63"/>
          <p:cNvSpPr/>
          <p:nvPr/>
        </p:nvSpPr>
        <p:spPr>
          <a:xfrm>
            <a:off x="6181344" y="4572000"/>
            <a:ext cx="263347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6409944" y="46451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30" name="Text 25"/>
          <p:cNvSpPr txBox="1"/>
          <p:nvPr/>
        </p:nvSpPr>
        <p:spPr>
          <a:xfrm>
            <a:off x="6409944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satuan pelaporan posko</a:t>
            </a:r>
            <a:endParaRPr lang="en-US" sz="1400" dirty="0"/>
          </a:p>
        </p:txBody>
      </p:sp>
      <p:sp>
        <p:nvSpPr>
          <p:cNvPr id="31" name="kartu-64"/>
          <p:cNvSpPr/>
          <p:nvPr/>
        </p:nvSpPr>
        <p:spPr>
          <a:xfrm>
            <a:off x="8997696" y="4572000"/>
            <a:ext cx="263347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9226296" y="46451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171+</a:t>
            </a:r>
            <a:endParaRPr lang="en-US" sz="4000" dirty="0"/>
          </a:p>
        </p:txBody>
      </p:sp>
      <p:sp>
        <p:nvSpPr>
          <p:cNvPr id="33" name="Text 28"/>
          <p:cNvSpPr txBox="1"/>
          <p:nvPr/>
        </p:nvSpPr>
        <p:spPr>
          <a:xfrm>
            <a:off x="9226296" y="5394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otomatis menjaga mutu rilis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Lapis, Satu Aliran Data</a:t>
            </a:r>
            <a:endParaRPr lang="en-US" sz="3400" dirty="0"/>
          </a:p>
        </p:txBody>
      </p:sp>
      <p:sp>
        <p:nvSpPr>
          <p:cNvPr id="4" name="kartu-65"/>
          <p:cNvSpPr/>
          <p:nvPr/>
        </p:nvSpPr>
        <p:spPr>
          <a:xfrm>
            <a:off x="548640" y="1600200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9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Pintu Masuk</a:t>
            </a:r>
            <a:endParaRPr lang="en-US" sz="1700" dirty="0"/>
          </a:p>
        </p:txBody>
      </p:sp>
      <p:sp>
        <p:nvSpPr>
          <p:cNvPr id="7" name="kartu-66"/>
          <p:cNvSpPr/>
          <p:nvPr/>
        </p:nvSpPr>
        <p:spPr>
          <a:xfrm>
            <a:off x="3474720" y="1600200"/>
            <a:ext cx="8165592" cy="749808"/>
          </a:xfrm>
          <a:prstGeom prst="roundRect">
            <a:avLst>
              <a:gd name="adj" fmla="val 14634"/>
            </a:avLst>
          </a:prstGeom>
          <a:solidFill>
            <a:schemeClr val="accent3"/>
          </a:solidFill>
          <a:ln w="12700">
            <a:solidFill>
              <a:srgbClr val="8C2A1E"/>
            </a:solidFill>
            <a:prstDash val="solid"/>
          </a:ln>
        </p:spPr>
      </p:sp>
      <p:sp>
        <p:nvSpPr>
          <p:cNvPr id="8" name="kartu-67"/>
          <p:cNvSpPr/>
          <p:nvPr/>
        </p:nvSpPr>
        <p:spPr>
          <a:xfrm>
            <a:off x="3611880" y="1728216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728216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Panggilan 110</a:t>
            </a:r>
            <a:endParaRPr lang="en-US" sz="1400" dirty="0"/>
          </a:p>
        </p:txBody>
      </p:sp>
      <p:sp>
        <p:nvSpPr>
          <p:cNvPr id="10" name="kartu-68"/>
          <p:cNvSpPr/>
          <p:nvPr/>
        </p:nvSpPr>
        <p:spPr>
          <a:xfrm>
            <a:off x="5618988" y="1728216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18988" y="1728216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Loket SPKT</a:t>
            </a:r>
            <a:endParaRPr lang="en-US" sz="1400" dirty="0"/>
          </a:p>
        </p:txBody>
      </p:sp>
      <p:sp>
        <p:nvSpPr>
          <p:cNvPr id="12" name="kartu-69"/>
          <p:cNvSpPr/>
          <p:nvPr/>
        </p:nvSpPr>
        <p:spPr>
          <a:xfrm>
            <a:off x="7626096" y="1728216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26096" y="1728216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</a:t>
            </a:r>
            <a:endParaRPr lang="en-US" sz="1400" dirty="0"/>
          </a:p>
        </p:txBody>
      </p:sp>
      <p:sp>
        <p:nvSpPr>
          <p:cNvPr id="14" name="kartu-70"/>
          <p:cNvSpPr/>
          <p:nvPr/>
        </p:nvSpPr>
        <p:spPr>
          <a:xfrm>
            <a:off x="9633204" y="1728216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33204" y="1728216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Medsos &amp; Live Chat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3134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kartu-71"/>
          <p:cNvSpPr/>
          <p:nvPr/>
        </p:nvSpPr>
        <p:spPr>
          <a:xfrm>
            <a:off x="548640" y="2496312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2569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825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Gerbang &amp; Keamanan</a:t>
            </a:r>
            <a:endParaRPr lang="en-US" sz="1700" dirty="0"/>
          </a:p>
        </p:txBody>
      </p:sp>
      <p:sp>
        <p:nvSpPr>
          <p:cNvPr id="20" name="kartu-72"/>
          <p:cNvSpPr/>
          <p:nvPr/>
        </p:nvSpPr>
        <p:spPr>
          <a:xfrm>
            <a:off x="3474720" y="2496312"/>
            <a:ext cx="8165592" cy="749808"/>
          </a:xfrm>
          <a:prstGeom prst="roundRect">
            <a:avLst>
              <a:gd name="adj" fmla="val 14634"/>
            </a:avLst>
          </a:prstGeom>
          <a:solidFill>
            <a:schemeClr val="accent3"/>
          </a:solidFill>
          <a:ln w="12700">
            <a:solidFill>
              <a:srgbClr val="8C2A1E"/>
            </a:solidFill>
            <a:prstDash val="solid"/>
          </a:ln>
        </p:spPr>
      </p:sp>
      <p:sp>
        <p:nvSpPr>
          <p:cNvPr id="21" name="kartu-73"/>
          <p:cNvSpPr/>
          <p:nvPr/>
        </p:nvSpPr>
        <p:spPr>
          <a:xfrm>
            <a:off x="3611880" y="2624328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2624328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Lacak Global</a:t>
            </a:r>
            <a:endParaRPr lang="en-US" sz="1400" dirty="0"/>
          </a:p>
        </p:txBody>
      </p:sp>
      <p:sp>
        <p:nvSpPr>
          <p:cNvPr id="23" name="kartu-74"/>
          <p:cNvSpPr/>
          <p:nvPr/>
        </p:nvSpPr>
        <p:spPr>
          <a:xfrm>
            <a:off x="5618988" y="2624328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18988" y="2624328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Yurisdiksi</a:t>
            </a:r>
            <a:endParaRPr lang="en-US" sz="1400" dirty="0"/>
          </a:p>
        </p:txBody>
      </p:sp>
      <p:sp>
        <p:nvSpPr>
          <p:cNvPr id="25" name="kartu-75"/>
          <p:cNvSpPr/>
          <p:nvPr/>
        </p:nvSpPr>
        <p:spPr>
          <a:xfrm>
            <a:off x="7626096" y="2624328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26096" y="2624328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UU PDP</a:t>
            </a:r>
            <a:endParaRPr lang="en-US" sz="1400" dirty="0"/>
          </a:p>
        </p:txBody>
      </p:sp>
      <p:sp>
        <p:nvSpPr>
          <p:cNvPr id="27" name="kartu-76"/>
          <p:cNvSpPr/>
          <p:nvPr/>
        </p:nvSpPr>
        <p:spPr>
          <a:xfrm>
            <a:off x="9633204" y="2624328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33204" y="2624328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3209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0" name="kartu-77"/>
          <p:cNvSpPr/>
          <p:nvPr/>
        </p:nvSpPr>
        <p:spPr>
          <a:xfrm>
            <a:off x="548640" y="3392424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31520" y="3465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Ruang Kerja Modul</a:t>
            </a:r>
            <a:endParaRPr lang="en-US" sz="1700" dirty="0"/>
          </a:p>
        </p:txBody>
      </p:sp>
      <p:sp>
        <p:nvSpPr>
          <p:cNvPr id="33" name="kartu-78"/>
          <p:cNvSpPr/>
          <p:nvPr/>
        </p:nvSpPr>
        <p:spPr>
          <a:xfrm>
            <a:off x="3474720" y="3392424"/>
            <a:ext cx="8165592" cy="749808"/>
          </a:xfrm>
          <a:prstGeom prst="roundRect">
            <a:avLst>
              <a:gd name="adj" fmla="val 14634"/>
            </a:avLst>
          </a:prstGeom>
          <a:solidFill>
            <a:schemeClr val="accent3"/>
          </a:solidFill>
          <a:ln w="12700">
            <a:solidFill>
              <a:srgbClr val="8C2A1E"/>
            </a:solidFill>
            <a:prstDash val="solid"/>
          </a:ln>
        </p:spPr>
      </p:sp>
      <p:sp>
        <p:nvSpPr>
          <p:cNvPr id="34" name="kartu-79"/>
          <p:cNvSpPr/>
          <p:nvPr/>
        </p:nvSpPr>
        <p:spPr>
          <a:xfrm>
            <a:off x="3611880" y="3520440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11880" y="3520440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&amp; Perkara</a:t>
            </a:r>
            <a:endParaRPr lang="en-US" sz="1400" dirty="0"/>
          </a:p>
        </p:txBody>
      </p:sp>
      <p:sp>
        <p:nvSpPr>
          <p:cNvPr id="36" name="kartu-80"/>
          <p:cNvSpPr/>
          <p:nvPr/>
        </p:nvSpPr>
        <p:spPr>
          <a:xfrm>
            <a:off x="5618988" y="3520440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18988" y="3520440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 OneService</a:t>
            </a:r>
            <a:endParaRPr lang="en-US" sz="1400" dirty="0"/>
          </a:p>
        </p:txBody>
      </p:sp>
      <p:sp>
        <p:nvSpPr>
          <p:cNvPr id="38" name="kartu-81"/>
          <p:cNvSpPr/>
          <p:nvPr/>
        </p:nvSpPr>
        <p:spPr>
          <a:xfrm>
            <a:off x="7626096" y="3520440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6096" y="3520440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Posko</a:t>
            </a:r>
            <a:endParaRPr lang="en-US" sz="1400" dirty="0"/>
          </a:p>
        </p:txBody>
      </p:sp>
      <p:sp>
        <p:nvSpPr>
          <p:cNvPr id="40" name="kartu-82"/>
          <p:cNvSpPr/>
          <p:nvPr/>
        </p:nvSpPr>
        <p:spPr>
          <a:xfrm>
            <a:off x="9633204" y="3520440"/>
            <a:ext cx="1869948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33204" y="3520440"/>
            <a:ext cx="1869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737360" y="41056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3" name="kartu-83"/>
          <p:cNvSpPr/>
          <p:nvPr/>
        </p:nvSpPr>
        <p:spPr>
          <a:xfrm>
            <a:off x="548640" y="4288536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731520" y="4361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4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4617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</a:t>
            </a:r>
            <a:endParaRPr lang="en-US" sz="1700" dirty="0"/>
          </a:p>
        </p:txBody>
      </p:sp>
      <p:sp>
        <p:nvSpPr>
          <p:cNvPr id="46" name="kartu-84"/>
          <p:cNvSpPr/>
          <p:nvPr/>
        </p:nvSpPr>
        <p:spPr>
          <a:xfrm>
            <a:off x="3474720" y="4288536"/>
            <a:ext cx="8165592" cy="749808"/>
          </a:xfrm>
          <a:prstGeom prst="roundRect">
            <a:avLst>
              <a:gd name="adj" fmla="val 14634"/>
            </a:avLst>
          </a:prstGeom>
          <a:solidFill>
            <a:schemeClr val="accent3"/>
          </a:solidFill>
          <a:ln w="12700">
            <a:solidFill>
              <a:srgbClr val="8C2A1E"/>
            </a:solidFill>
            <a:prstDash val="solid"/>
          </a:ln>
        </p:spPr>
      </p:sp>
      <p:sp>
        <p:nvSpPr>
          <p:cNvPr id="47" name="kartu-85"/>
          <p:cNvSpPr/>
          <p:nvPr/>
        </p:nvSpPr>
        <p:spPr>
          <a:xfrm>
            <a:off x="3611880" y="4416552"/>
            <a:ext cx="2538984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611880" y="4416552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</a:t>
            </a:r>
            <a:endParaRPr lang="en-US" sz="1400" dirty="0"/>
          </a:p>
        </p:txBody>
      </p:sp>
      <p:sp>
        <p:nvSpPr>
          <p:cNvPr id="49" name="kartu-86"/>
          <p:cNvSpPr/>
          <p:nvPr/>
        </p:nvSpPr>
        <p:spPr>
          <a:xfrm>
            <a:off x="6288024" y="4416552"/>
            <a:ext cx="2538984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88024" y="4416552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status = 1 event</a:t>
            </a:r>
            <a:endParaRPr lang="en-US" sz="1400" dirty="0"/>
          </a:p>
        </p:txBody>
      </p:sp>
      <p:sp>
        <p:nvSpPr>
          <p:cNvPr id="51" name="kartu-87"/>
          <p:cNvSpPr/>
          <p:nvPr/>
        </p:nvSpPr>
        <p:spPr>
          <a:xfrm>
            <a:off x="8964168" y="4416552"/>
            <a:ext cx="2538984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64168" y="4416552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Sandbox / Live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737360" y="50017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4" name="kartu-88"/>
          <p:cNvSpPr/>
          <p:nvPr/>
        </p:nvSpPr>
        <p:spPr>
          <a:xfrm>
            <a:off x="548640" y="5184648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73152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5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31520" y="5513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Data &amp; Analitik</a:t>
            </a:r>
            <a:endParaRPr lang="en-US" sz="1700" dirty="0"/>
          </a:p>
        </p:txBody>
      </p:sp>
      <p:sp>
        <p:nvSpPr>
          <p:cNvPr id="57" name="kartu-89"/>
          <p:cNvSpPr/>
          <p:nvPr/>
        </p:nvSpPr>
        <p:spPr>
          <a:xfrm>
            <a:off x="3474720" y="5184648"/>
            <a:ext cx="8165592" cy="749808"/>
          </a:xfrm>
          <a:prstGeom prst="roundRect">
            <a:avLst>
              <a:gd name="adj" fmla="val 14634"/>
            </a:avLst>
          </a:prstGeom>
          <a:solidFill>
            <a:schemeClr val="accent3"/>
          </a:solidFill>
          <a:ln w="12700">
            <a:solidFill>
              <a:srgbClr val="8C2A1E"/>
            </a:solidFill>
            <a:prstDash val="solid"/>
          </a:ln>
        </p:spPr>
      </p:sp>
      <p:sp>
        <p:nvSpPr>
          <p:cNvPr id="58" name="kartu-90"/>
          <p:cNvSpPr/>
          <p:nvPr/>
        </p:nvSpPr>
        <p:spPr>
          <a:xfrm>
            <a:off x="3611880" y="5312664"/>
            <a:ext cx="2538984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611880" y="5312664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Kapolri</a:t>
            </a:r>
            <a:endParaRPr lang="en-US" sz="1400" dirty="0"/>
          </a:p>
        </p:txBody>
      </p:sp>
      <p:sp>
        <p:nvSpPr>
          <p:cNvPr id="60" name="kartu-91"/>
          <p:cNvSpPr/>
          <p:nvPr/>
        </p:nvSpPr>
        <p:spPr>
          <a:xfrm>
            <a:off x="6288024" y="5312664"/>
            <a:ext cx="2538984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88024" y="5312664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100 Hari</a:t>
            </a:r>
            <a:endParaRPr lang="en-US" sz="1400" dirty="0"/>
          </a:p>
        </p:txBody>
      </p:sp>
      <p:sp>
        <p:nvSpPr>
          <p:cNvPr id="62" name="kartu-92"/>
          <p:cNvSpPr/>
          <p:nvPr/>
        </p:nvSpPr>
        <p:spPr>
          <a:xfrm>
            <a:off x="8964168" y="5312664"/>
            <a:ext cx="2538984" cy="4937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rgbClr val="E0A52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964168" y="5312664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&amp; Kepatuhan Posko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 · PINTU MASUK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Pintu, Satu Register</a:t>
            </a:r>
            <a:endParaRPr lang="en-US" sz="3400" dirty="0"/>
          </a:p>
        </p:txBody>
      </p:sp>
      <p:sp>
        <p:nvSpPr>
          <p:cNvPr id="4" name="kartu-93"/>
          <p:cNvSpPr/>
          <p:nvPr/>
        </p:nvSpPr>
        <p:spPr>
          <a:xfrm>
            <a:off x="548640" y="169164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94"/>
          <p:cNvSpPr/>
          <p:nvPr/>
        </p:nvSpPr>
        <p:spPr>
          <a:xfrm>
            <a:off x="1170432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402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Warga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bertahap, titik GPS di peta, opsi whistleblower.</a:t>
            </a:r>
            <a:endParaRPr lang="en-US" sz="1400" dirty="0"/>
          </a:p>
        </p:txBody>
      </p:sp>
      <p:sp>
        <p:nvSpPr>
          <p:cNvPr id="9" name="kartu-95"/>
          <p:cNvSpPr/>
          <p:nvPr/>
        </p:nvSpPr>
        <p:spPr>
          <a:xfrm>
            <a:off x="2807208" y="169164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lingkar-96"/>
          <p:cNvSpPr/>
          <p:nvPr/>
        </p:nvSpPr>
        <p:spPr>
          <a:xfrm>
            <a:off x="342900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Hasht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21799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4368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Sosial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90088" y="338328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Patroli X, Instagram, Facebook, TikTok; konversi 1-klik.</a:t>
            </a:r>
            <a:endParaRPr lang="en-US" sz="1400" dirty="0"/>
          </a:p>
        </p:txBody>
      </p:sp>
      <p:sp>
        <p:nvSpPr>
          <p:cNvPr id="14" name="kartu-97"/>
          <p:cNvSpPr/>
          <p:nvPr/>
        </p:nvSpPr>
        <p:spPr>
          <a:xfrm>
            <a:off x="5065776" y="169164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ingkar-98"/>
          <p:cNvSpPr/>
          <p:nvPr/>
        </p:nvSpPr>
        <p:spPr>
          <a:xfrm>
            <a:off x="5687568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21799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2936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 SPKT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248656" y="338328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tanpa login; operator ambil alih dan jadikan tiket.</a:t>
            </a:r>
            <a:endParaRPr lang="en-US" sz="1400" dirty="0"/>
          </a:p>
        </p:txBody>
      </p:sp>
      <p:sp>
        <p:nvSpPr>
          <p:cNvPr id="19" name="kartu-99"/>
          <p:cNvSpPr/>
          <p:nvPr/>
        </p:nvSpPr>
        <p:spPr>
          <a:xfrm>
            <a:off x="7324344" y="169164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ingkar-100"/>
          <p:cNvSpPr/>
          <p:nvPr/>
        </p:nvSpPr>
        <p:spPr>
          <a:xfrm>
            <a:off x="7946136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Phon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106" y="21799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61504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Panggilan 110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507224" y="338328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Triase prioritas P1–P3 dan dispatch unit terdekat.</a:t>
            </a:r>
            <a:endParaRPr lang="en-US" sz="1400" dirty="0"/>
          </a:p>
        </p:txBody>
      </p:sp>
      <p:sp>
        <p:nvSpPr>
          <p:cNvPr id="24" name="kartu-101"/>
          <p:cNvSpPr/>
          <p:nvPr/>
        </p:nvSpPr>
        <p:spPr>
          <a:xfrm>
            <a:off x="9582912" y="169164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ingkar-102"/>
          <p:cNvSpPr/>
          <p:nvPr/>
        </p:nvSpPr>
        <p:spPr>
          <a:xfrm>
            <a:off x="10204704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aDoorOp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674" y="217993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20072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Loket SPKT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9765792" y="338328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Rejection; petugas input atas nama warga rentan.</a:t>
            </a:r>
            <a:endParaRPr lang="en-US" sz="1400" dirty="0"/>
          </a:p>
        </p:txBody>
      </p:sp>
      <p:sp>
        <p:nvSpPr>
          <p:cNvPr id="29" name="kartu-103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lingkar-104"/>
          <p:cNvSpPr/>
          <p:nvPr/>
        </p:nvSpPr>
        <p:spPr>
          <a:xfrm>
            <a:off x="822960" y="5138928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FaKe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" y="5341010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828800" y="5029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pintu bermuara pada satu register resmi.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menerima nomor tiket dan PIN 6 digit untuk melacak status, membaca SP2HP-E, dan berklarifikasi langsung dengan penyidik.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 · TATA CARA KERJA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Pengaduan sampai Tuntas</a:t>
            </a:r>
            <a:endParaRPr lang="en-US" sz="3400" dirty="0"/>
          </a:p>
        </p:txBody>
      </p:sp>
      <p:sp>
        <p:nvSpPr>
          <p:cNvPr id="4" name="kartu-105"/>
          <p:cNvSpPr/>
          <p:nvPr/>
        </p:nvSpPr>
        <p:spPr>
          <a:xfrm>
            <a:off x="548640" y="1572768"/>
            <a:ext cx="1965960" cy="192024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21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157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meja SPKT</a:t>
            </a:r>
            <a:endParaRPr lang="en-US" sz="1300" dirty="0"/>
          </a:p>
        </p:txBody>
      </p:sp>
      <p:sp>
        <p:nvSpPr>
          <p:cNvPr id="8" name="kartu-106"/>
          <p:cNvSpPr/>
          <p:nvPr/>
        </p:nvSpPr>
        <p:spPr>
          <a:xfrm>
            <a:off x="2697480" y="157276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lingkar-107"/>
          <p:cNvSpPr/>
          <p:nvPr/>
        </p:nvSpPr>
        <p:spPr>
          <a:xfrm>
            <a:off x="2834640" y="17099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0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399" y="1840687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834640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Warga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 lewat web, medsos, chat, 110, atau loket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325112" y="157276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kartu-108"/>
          <p:cNvSpPr/>
          <p:nvPr/>
        </p:nvSpPr>
        <p:spPr>
          <a:xfrm>
            <a:off x="4489704" y="157276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ingkar-109"/>
          <p:cNvSpPr/>
          <p:nvPr/>
        </p:nvSpPr>
        <p:spPr>
          <a:xfrm>
            <a:off x="4626864" y="17099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1" descr="FaHasht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623" y="184068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626864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Humas / Siber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26864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aduan viral; konversi jadi tiket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117336" y="157276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kartu-110"/>
          <p:cNvSpPr/>
          <p:nvPr/>
        </p:nvSpPr>
        <p:spPr>
          <a:xfrm>
            <a:off x="6281928" y="157276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lingkar-111"/>
          <p:cNvSpPr/>
          <p:nvPr/>
        </p:nvSpPr>
        <p:spPr>
          <a:xfrm>
            <a:off x="6419088" y="17099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2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847" y="1840687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19088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SPKT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419088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bukti; tolak hoaks dengan alasan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7909560" y="157276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kartu-112"/>
          <p:cNvSpPr/>
          <p:nvPr/>
        </p:nvSpPr>
        <p:spPr>
          <a:xfrm>
            <a:off x="8074152" y="157276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lingkar-113"/>
          <p:cNvSpPr/>
          <p:nvPr/>
        </p:nvSpPr>
        <p:spPr>
          <a:xfrm>
            <a:off x="8211312" y="17099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3" descr="FaSite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071" y="1840687"/>
            <a:ext cx="241402" cy="2414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211312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SPKT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211312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Disposisi ke Satker Mabes atau Polda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9701784" y="157276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kartu-114"/>
          <p:cNvSpPr/>
          <p:nvPr/>
        </p:nvSpPr>
        <p:spPr>
          <a:xfrm>
            <a:off x="9866376" y="157276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lingkar-115"/>
          <p:cNvSpPr/>
          <p:nvPr/>
        </p:nvSpPr>
        <p:spPr>
          <a:xfrm>
            <a:off x="10003536" y="17099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4" descr="Fa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4295" y="1840687"/>
            <a:ext cx="241402" cy="2414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003536" y="22860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Warga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10003536" y="257860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nomor tiket dan PIN pelacakan</a:t>
            </a:r>
            <a:endParaRPr lang="en-US" sz="1300" dirty="0"/>
          </a:p>
        </p:txBody>
      </p:sp>
      <p:sp>
        <p:nvSpPr>
          <p:cNvPr id="37" name="kartu-116"/>
          <p:cNvSpPr/>
          <p:nvPr/>
        </p:nvSpPr>
        <p:spPr>
          <a:xfrm>
            <a:off x="548640" y="3675888"/>
            <a:ext cx="1965960" cy="192024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548640" y="3858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2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4224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640080" y="48188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sampai selesai</a:t>
            </a:r>
            <a:endParaRPr lang="en-US" sz="1300" dirty="0"/>
          </a:p>
        </p:txBody>
      </p:sp>
      <p:sp>
        <p:nvSpPr>
          <p:cNvPr id="41" name="kartu-117"/>
          <p:cNvSpPr/>
          <p:nvPr/>
        </p:nvSpPr>
        <p:spPr>
          <a:xfrm>
            <a:off x="2697480" y="367588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lingkar-118"/>
          <p:cNvSpPr/>
          <p:nvPr/>
        </p:nvSpPr>
        <p:spPr>
          <a:xfrm>
            <a:off x="2834640" y="38130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3" name="Image 5" descr="FaUserTi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5399" y="3943807"/>
            <a:ext cx="241402" cy="241402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2834640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Kanit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2834640" y="46817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Terbitkan Sprintgas ke penyidik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4325112" y="367588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7" name="kartu-119"/>
          <p:cNvSpPr/>
          <p:nvPr/>
        </p:nvSpPr>
        <p:spPr>
          <a:xfrm>
            <a:off x="4489704" y="367588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lingkar-120"/>
          <p:cNvSpPr/>
          <p:nvPr/>
        </p:nvSpPr>
        <p:spPr>
          <a:xfrm>
            <a:off x="4626864" y="38130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9" name="Image 6" descr="FaUserEdi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623" y="3943807"/>
            <a:ext cx="241402" cy="24140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4626864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Penyidik</a:t>
            </a:r>
            <a:endParaRPr lang="en-US" sz="1300" dirty="0"/>
          </a:p>
        </p:txBody>
      </p:sp>
      <p:sp>
        <p:nvSpPr>
          <p:cNvPr id="51" name="Text 42"/>
          <p:cNvSpPr txBox="1"/>
          <p:nvPr/>
        </p:nvSpPr>
        <p:spPr>
          <a:xfrm>
            <a:off x="4626864" y="46817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Lidik/sidik; catatan publik dan rahasia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6117336" y="367588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3" name="kartu-121"/>
          <p:cNvSpPr/>
          <p:nvPr/>
        </p:nvSpPr>
        <p:spPr>
          <a:xfrm>
            <a:off x="6281928" y="367588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lingkar-122"/>
          <p:cNvSpPr/>
          <p:nvPr/>
        </p:nvSpPr>
        <p:spPr>
          <a:xfrm>
            <a:off x="6419088" y="38130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5" name="Image 7" descr="FaFile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9847" y="3943807"/>
            <a:ext cx="241402" cy="241402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419088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Penyidik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6419088" y="46817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Terbitkan SP2HP-E A1–A5 ke pelapor</a:t>
            </a:r>
            <a:endParaRPr lang="en-US" sz="1300" dirty="0"/>
          </a:p>
        </p:txBody>
      </p:sp>
      <p:sp>
        <p:nvSpPr>
          <p:cNvPr id="58" name="Text 48"/>
          <p:cNvSpPr txBox="1"/>
          <p:nvPr/>
        </p:nvSpPr>
        <p:spPr>
          <a:xfrm>
            <a:off x="7909560" y="367588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9" name="kartu-123"/>
          <p:cNvSpPr/>
          <p:nvPr/>
        </p:nvSpPr>
        <p:spPr>
          <a:xfrm>
            <a:off x="8074152" y="367588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0" name="lingkar-124"/>
          <p:cNvSpPr/>
          <p:nvPr/>
        </p:nvSpPr>
        <p:spPr>
          <a:xfrm>
            <a:off x="8211312" y="38130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1" name="Image 8" descr="FaGave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2071" y="3943807"/>
            <a:ext cx="241402" cy="241402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8211312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Kanit / SPKT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8211312" y="46817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perkara dengan Berita Acara</a:t>
            </a:r>
            <a:endParaRPr lang="en-US" sz="1300" dirty="0"/>
          </a:p>
        </p:txBody>
      </p:sp>
      <p:sp>
        <p:nvSpPr>
          <p:cNvPr id="64" name="Text 53"/>
          <p:cNvSpPr txBox="1"/>
          <p:nvPr/>
        </p:nvSpPr>
        <p:spPr>
          <a:xfrm>
            <a:off x="9701784" y="3675888"/>
            <a:ext cx="164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kartu-125"/>
          <p:cNvSpPr/>
          <p:nvPr/>
        </p:nvSpPr>
        <p:spPr>
          <a:xfrm>
            <a:off x="9866376" y="3675888"/>
            <a:ext cx="1627632" cy="19202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lingkar-126"/>
          <p:cNvSpPr/>
          <p:nvPr/>
        </p:nvSpPr>
        <p:spPr>
          <a:xfrm>
            <a:off x="10003536" y="38130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7" name="Image 9" descr="FaSt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4295" y="3943807"/>
            <a:ext cx="241402" cy="241402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10003536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Warga</a:t>
            </a:r>
            <a:endParaRPr lang="en-US" sz="1300" dirty="0"/>
          </a:p>
        </p:txBody>
      </p:sp>
      <p:sp>
        <p:nvSpPr>
          <p:cNvPr id="69" name="Text 57"/>
          <p:cNvSpPr txBox="1"/>
          <p:nvPr/>
        </p:nvSpPr>
        <p:spPr>
          <a:xfrm>
            <a:off x="10003536" y="468172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survei kepuasan bintang 1–5</a:t>
            </a:r>
            <a:endParaRPr lang="en-US" sz="1300" dirty="0"/>
          </a:p>
        </p:txBody>
      </p:sp>
      <p:sp>
        <p:nvSpPr>
          <p:cNvPr id="70" name="kartu-127"/>
          <p:cNvSpPr/>
          <p:nvPr/>
        </p:nvSpPr>
        <p:spPr>
          <a:xfrm>
            <a:off x="548640" y="5779008"/>
            <a:ext cx="11091672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71" name="Text 59"/>
          <p:cNvSpPr txBox="1"/>
          <p:nvPr/>
        </p:nvSpPr>
        <p:spPr>
          <a:xfrm>
            <a:off x="777240" y="57790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cepat: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viral atau menonjol mendapat “Atensi Kapolri” — instruksi prioritas tertulis langsung ke penyidik, tanpa menunggu siklus laporan.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 · PERAN DAN KEWENANGAN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Sembilan Peran, Batas yang Jelas</a:t>
            </a:r>
            <a:endParaRPr lang="en-US" sz="3400" dirty="0"/>
          </a:p>
        </p:txBody>
      </p:sp>
      <p:sp>
        <p:nvSpPr>
          <p:cNvPr id="4" name="kartu-128"/>
          <p:cNvSpPr/>
          <p:nvPr/>
        </p:nvSpPr>
        <p:spPr>
          <a:xfrm>
            <a:off x="548640" y="164592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129"/>
          <p:cNvSpPr/>
          <p:nvPr/>
        </p:nvSpPr>
        <p:spPr>
          <a:xfrm>
            <a:off x="77724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128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Lapor, lacak tiket, klarifikasi, isi survei</a:t>
            </a:r>
            <a:endParaRPr lang="en-US" sz="1400" dirty="0"/>
          </a:p>
        </p:txBody>
      </p:sp>
      <p:sp>
        <p:nvSpPr>
          <p:cNvPr id="9" name="kartu-130"/>
          <p:cNvSpPr/>
          <p:nvPr/>
        </p:nvSpPr>
        <p:spPr>
          <a:xfrm>
            <a:off x="4306824" y="164592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lingkar-131"/>
          <p:cNvSpPr/>
          <p:nvPr/>
        </p:nvSpPr>
        <p:spPr>
          <a:xfrm>
            <a:off x="4535424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21223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95544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SPKT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95544" y="22128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Triase, verifikasi bukti, disposisi tiket</a:t>
            </a:r>
            <a:endParaRPr lang="en-US" sz="1400" dirty="0"/>
          </a:p>
        </p:txBody>
      </p:sp>
      <p:sp>
        <p:nvSpPr>
          <p:cNvPr id="14" name="kartu-132"/>
          <p:cNvSpPr/>
          <p:nvPr/>
        </p:nvSpPr>
        <p:spPr>
          <a:xfrm>
            <a:off x="8065008" y="164592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ingkar-133"/>
          <p:cNvSpPr/>
          <p:nvPr/>
        </p:nvSpPr>
        <p:spPr>
          <a:xfrm>
            <a:off x="8293608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Hasht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690" y="212232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53728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Humas / Siber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253728" y="22128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Patroli medsos, konversi aduan viral</a:t>
            </a:r>
            <a:endParaRPr lang="en-US" sz="1400" dirty="0"/>
          </a:p>
        </p:txBody>
      </p:sp>
      <p:sp>
        <p:nvSpPr>
          <p:cNvPr id="19" name="kartu-134"/>
          <p:cNvSpPr/>
          <p:nvPr/>
        </p:nvSpPr>
        <p:spPr>
          <a:xfrm>
            <a:off x="548640" y="315468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ingkar-135"/>
          <p:cNvSpPr/>
          <p:nvPr/>
        </p:nvSpPr>
        <p:spPr>
          <a:xfrm>
            <a:off x="777240" y="34290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Buil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3631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Satker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37216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 perkara, setujui penutupan</a:t>
            </a:r>
            <a:endParaRPr lang="en-US" sz="1400" dirty="0"/>
          </a:p>
        </p:txBody>
      </p:sp>
      <p:sp>
        <p:nvSpPr>
          <p:cNvPr id="24" name="kartu-136"/>
          <p:cNvSpPr/>
          <p:nvPr/>
        </p:nvSpPr>
        <p:spPr>
          <a:xfrm>
            <a:off x="4306824" y="315468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ingkar-137"/>
          <p:cNvSpPr/>
          <p:nvPr/>
        </p:nvSpPr>
        <p:spPr>
          <a:xfrm>
            <a:off x="4535424" y="34290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aUserTi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06" y="363108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95544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Kanit Satker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5495544" y="37216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disposisi, tunjuk penyidik</a:t>
            </a:r>
            <a:endParaRPr lang="en-US" sz="1400" dirty="0"/>
          </a:p>
        </p:txBody>
      </p:sp>
      <p:sp>
        <p:nvSpPr>
          <p:cNvPr id="29" name="kartu-138"/>
          <p:cNvSpPr/>
          <p:nvPr/>
        </p:nvSpPr>
        <p:spPr>
          <a:xfrm>
            <a:off x="8065008" y="315468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lingkar-139"/>
          <p:cNvSpPr/>
          <p:nvPr/>
        </p:nvSpPr>
        <p:spPr>
          <a:xfrm>
            <a:off x="8293608" y="34290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FaUserEdi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690" y="363108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53728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Penyidik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9253728" y="37216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Lembar kerja, SP2HP-E, Berita Acara</a:t>
            </a:r>
            <a:endParaRPr lang="en-US" sz="1400" dirty="0"/>
          </a:p>
        </p:txBody>
      </p:sp>
      <p:sp>
        <p:nvSpPr>
          <p:cNvPr id="34" name="kartu-140"/>
          <p:cNvSpPr/>
          <p:nvPr/>
        </p:nvSpPr>
        <p:spPr>
          <a:xfrm>
            <a:off x="548640" y="466344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lingkar-141"/>
          <p:cNvSpPr/>
          <p:nvPr/>
        </p:nvSpPr>
        <p:spPr>
          <a:xfrm>
            <a:off x="777240" y="4937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FaUserSecr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22" y="5139842"/>
            <a:ext cx="373075" cy="37307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737360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Itwasum / Propam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1737360" y="5230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kepatuhan, awasi Dumas dan chat</a:t>
            </a:r>
            <a:endParaRPr lang="en-US" sz="1400" dirty="0"/>
          </a:p>
        </p:txBody>
      </p:sp>
      <p:sp>
        <p:nvSpPr>
          <p:cNvPr id="39" name="kartu-142"/>
          <p:cNvSpPr/>
          <p:nvPr/>
        </p:nvSpPr>
        <p:spPr>
          <a:xfrm>
            <a:off x="4306824" y="466344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lingkar-143"/>
          <p:cNvSpPr/>
          <p:nvPr/>
        </p:nvSpPr>
        <p:spPr>
          <a:xfrm>
            <a:off x="4535424" y="4937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7" descr="FaChartLi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506" y="5139842"/>
            <a:ext cx="373075" cy="37307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495544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(Kapolri)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5495544" y="5230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heatmap, Atensi Kapolri</a:t>
            </a:r>
            <a:endParaRPr lang="en-US" sz="1400" dirty="0"/>
          </a:p>
        </p:txBody>
      </p:sp>
      <p:sp>
        <p:nvSpPr>
          <p:cNvPr id="44" name="kartu-144"/>
          <p:cNvSpPr/>
          <p:nvPr/>
        </p:nvSpPr>
        <p:spPr>
          <a:xfrm>
            <a:off x="8065008" y="4663440"/>
            <a:ext cx="3575304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lingkar-145"/>
          <p:cNvSpPr/>
          <p:nvPr/>
        </p:nvSpPr>
        <p:spPr>
          <a:xfrm>
            <a:off x="8293608" y="4937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mage 8" descr="FaUserCo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5690" y="5139842"/>
            <a:ext cx="373075" cy="37307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253728" y="4846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TIK</a:t>
            </a:r>
            <a:endParaRPr lang="en-US" sz="1700" dirty="0"/>
          </a:p>
        </p:txBody>
      </p:sp>
      <p:sp>
        <p:nvSpPr>
          <p:cNvPr id="48" name="Text 37"/>
          <p:cNvSpPr txBox="1"/>
          <p:nvPr/>
        </p:nvSpPr>
        <p:spPr>
          <a:xfrm>
            <a:off x="9253728" y="52303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Modul, pengguna, konfigurasi, audit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II · SATU NOMOR, SATU JEJAK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Nomor Warga Tidak Pernah Berganti</a:t>
            </a:r>
            <a:endParaRPr lang="en-US" sz="3400" dirty="0"/>
          </a:p>
        </p:txBody>
      </p:sp>
      <p:sp>
        <p:nvSpPr>
          <p:cNvPr id="4" name="kartu-146"/>
          <p:cNvSpPr/>
          <p:nvPr/>
        </p:nvSpPr>
        <p:spPr>
          <a:xfrm>
            <a:off x="548640" y="1600200"/>
            <a:ext cx="11091672" cy="1874520"/>
          </a:xfrm>
          <a:prstGeom prst="roundRect">
            <a:avLst>
              <a:gd name="adj" fmla="val 5854"/>
            </a:avLst>
          </a:prstGeom>
          <a:solidFill>
            <a:schemeClr val="tx1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682496" y="1783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682496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Prefiks Polri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45536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48456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202610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648456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&amp; bulan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25896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28816" y="1783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asal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91856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94776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8924A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494776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unik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Kanal: 110 · SPKT · WEB · CYB (siber) · DMS (Dumas/Propam) · LIVE_CHAT</a:t>
            </a:r>
            <a:endParaRPr lang="en-US" sz="1400" dirty="0"/>
          </a:p>
        </p:txBody>
      </p:sp>
      <p:sp>
        <p:nvSpPr>
          <p:cNvPr id="17" name="kartu-147"/>
          <p:cNvSpPr/>
          <p:nvPr/>
        </p:nvSpPr>
        <p:spPr>
          <a:xfrm>
            <a:off x="548640" y="3749040"/>
            <a:ext cx="3575304" cy="233172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lingkar-148"/>
          <p:cNvSpPr/>
          <p:nvPr/>
        </p:nvSpPr>
        <p:spPr>
          <a:xfrm>
            <a:off x="822960" y="3977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0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4167835"/>
            <a:ext cx="351130" cy="35113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737360" y="4069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Berganti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Panggilan 110 naik menjadi LP di SPKT lalu ke penyidikan — nomor warga tetap sama.</a:t>
            </a:r>
            <a:endParaRPr lang="en-US" sz="1500" dirty="0"/>
          </a:p>
        </p:txBody>
      </p:sp>
      <p:sp>
        <p:nvSpPr>
          <p:cNvPr id="22" name="kartu-149"/>
          <p:cNvSpPr/>
          <p:nvPr/>
        </p:nvSpPr>
        <p:spPr>
          <a:xfrm>
            <a:off x="4306824" y="3749040"/>
            <a:ext cx="3575304" cy="233172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lingkar-150"/>
          <p:cNvSpPr/>
          <p:nvPr/>
        </p:nvSpPr>
        <p:spPr>
          <a:xfrm>
            <a:off x="4581144" y="3977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1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4167835"/>
            <a:ext cx="351130" cy="35113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95544" y="4069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Terikat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581144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e-MP, Sprintgas, SP2HP A1–A5, dan barang bukti menjadi turunan nomor global.</a:t>
            </a:r>
            <a:endParaRPr lang="en-US" sz="1500" dirty="0"/>
          </a:p>
        </p:txBody>
      </p:sp>
      <p:sp>
        <p:nvSpPr>
          <p:cNvPr id="27" name="kartu-151"/>
          <p:cNvSpPr/>
          <p:nvPr/>
        </p:nvSpPr>
        <p:spPr>
          <a:xfrm>
            <a:off x="8065008" y="3749040"/>
            <a:ext cx="3575304" cy="233172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lingkar-152"/>
          <p:cNvSpPr/>
          <p:nvPr/>
        </p:nvSpPr>
        <p:spPr>
          <a:xfrm>
            <a:off x="8339328" y="3977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2" descr="FaQr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3" y="4167835"/>
            <a:ext cx="351130" cy="35113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253728" y="4069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Mudah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8339328" y="4846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nomor lacak + PIN 6 digit untuk melihat status real time, tanpa akun rumit.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II · ONE POLICE SERVICE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Modul Quick Win</a:t>
            </a:r>
            <a:endParaRPr lang="en-US" sz="3400" dirty="0"/>
          </a:p>
        </p:txBody>
      </p:sp>
      <p:sp>
        <p:nvSpPr>
          <p:cNvPr id="4" name="kartu-153"/>
          <p:cNvSpPr/>
          <p:nvPr/>
        </p:nvSpPr>
        <p:spPr>
          <a:xfrm>
            <a:off x="548640" y="1600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154"/>
          <p:cNvSpPr/>
          <p:nvPr/>
        </p:nvSpPr>
        <p:spPr>
          <a:xfrm>
            <a:off x="749808" y="1801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19677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 &amp; SP2HP Otomatis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mundur SLA; pengingat sebelum tenggat; lewat tenggat ditandai macet</a:t>
            </a:r>
            <a:endParaRPr lang="en-US" sz="1300" dirty="0"/>
          </a:p>
        </p:txBody>
      </p:sp>
      <p:sp>
        <p:nvSpPr>
          <p:cNvPr id="10" name="kartu-155"/>
          <p:cNvSpPr/>
          <p:nvPr/>
        </p:nvSpPr>
        <p:spPr>
          <a:xfrm>
            <a:off x="3364992" y="1600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lingkar-156"/>
          <p:cNvSpPr/>
          <p:nvPr/>
        </p:nvSpPr>
        <p:spPr>
          <a:xfrm>
            <a:off x="3566160" y="1801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FaHeads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196778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02352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Triase &amp; Dispatch 110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P1–P3; unit terdekat; target dispatch &lt; 2 menit</a:t>
            </a:r>
            <a:endParaRPr lang="en-US" sz="1300" dirty="0"/>
          </a:p>
        </p:txBody>
      </p:sp>
      <p:sp>
        <p:nvSpPr>
          <p:cNvPr id="16" name="kartu-157"/>
          <p:cNvSpPr/>
          <p:nvPr/>
        </p:nvSpPr>
        <p:spPr>
          <a:xfrm>
            <a:off x="6181344" y="1600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lingkar-158"/>
          <p:cNvSpPr/>
          <p:nvPr/>
        </p:nvSpPr>
        <p:spPr>
          <a:xfrm>
            <a:off x="6382512" y="1801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FaHandHolding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33" y="1967789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18704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6382512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SPKT Ramah Korban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82512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Rejection; jalur PPA &amp; difabel; input atas nama warga</a:t>
            </a:r>
            <a:endParaRPr lang="en-US" sz="1300" dirty="0"/>
          </a:p>
        </p:txBody>
      </p:sp>
      <p:sp>
        <p:nvSpPr>
          <p:cNvPr id="22" name="kartu-159"/>
          <p:cNvSpPr/>
          <p:nvPr/>
        </p:nvSpPr>
        <p:spPr>
          <a:xfrm>
            <a:off x="8997696" y="1600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lingkar-160"/>
          <p:cNvSpPr/>
          <p:nvPr/>
        </p:nvSpPr>
        <p:spPr>
          <a:xfrm>
            <a:off x="9198864" y="1801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FaFolder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285" y="1967789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35056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198864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Perkara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198864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barang bukti SHA-256; perkara &gt; 30 hari tanpa aktivitas ke gelar</a:t>
            </a:r>
            <a:endParaRPr lang="en-US" sz="1300" dirty="0"/>
          </a:p>
        </p:txBody>
      </p:sp>
      <p:sp>
        <p:nvSpPr>
          <p:cNvPr id="28" name="kartu-161"/>
          <p:cNvSpPr/>
          <p:nvPr/>
        </p:nvSpPr>
        <p:spPr>
          <a:xfrm>
            <a:off x="548640" y="3886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lingkar-162"/>
          <p:cNvSpPr/>
          <p:nvPr/>
        </p:nvSpPr>
        <p:spPr>
          <a:xfrm>
            <a:off x="749808" y="4087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FaBullhor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9" y="4253789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28600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25"/>
          <p:cNvSpPr txBox="1"/>
          <p:nvPr/>
        </p:nvSpPr>
        <p:spPr>
          <a:xfrm>
            <a:off x="749808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Dumas Terpadu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49808" y="5166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whistleblower terenkripsi; deteksi lonjakan pungli 14 hari</a:t>
            </a:r>
            <a:endParaRPr lang="en-US" sz="1300" dirty="0"/>
          </a:p>
        </p:txBody>
      </p:sp>
      <p:sp>
        <p:nvSpPr>
          <p:cNvPr id="34" name="kartu-163"/>
          <p:cNvSpPr/>
          <p:nvPr/>
        </p:nvSpPr>
        <p:spPr>
          <a:xfrm>
            <a:off x="3364992" y="3886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lingkar-164"/>
          <p:cNvSpPr/>
          <p:nvPr/>
        </p:nvSpPr>
        <p:spPr>
          <a:xfrm>
            <a:off x="3566160" y="4087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5" descr="FaMoneyCheck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2581" y="4253789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102352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38" name="Text 30"/>
          <p:cNvSpPr txBox="1"/>
          <p:nvPr/>
        </p:nvSpPr>
        <p:spPr>
          <a:xfrm>
            <a:off x="356616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Siber &amp; Blokir Cepat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3566160" y="5166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rekening pelaku; sinyal blokir ke bank/OJK; kluster sindikat</a:t>
            </a:r>
            <a:endParaRPr lang="en-US" sz="1300" dirty="0"/>
          </a:p>
        </p:txBody>
      </p:sp>
      <p:sp>
        <p:nvSpPr>
          <p:cNvPr id="40" name="kartu-165"/>
          <p:cNvSpPr/>
          <p:nvPr/>
        </p:nvSpPr>
        <p:spPr>
          <a:xfrm>
            <a:off x="6181344" y="3886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lingkar-166"/>
          <p:cNvSpPr/>
          <p:nvPr/>
        </p:nvSpPr>
        <p:spPr>
          <a:xfrm>
            <a:off x="6382512" y="4087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Image 6" descr="FaHandsha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933" y="4253789"/>
            <a:ext cx="307238" cy="30723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918704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44" name="Text 35"/>
          <p:cNvSpPr txBox="1"/>
          <p:nvPr/>
        </p:nvSpPr>
        <p:spPr>
          <a:xfrm>
            <a:off x="6382512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Bhabinkamtibmas</a:t>
            </a:r>
            <a:endParaRPr lang="en-US" sz="1600" dirty="0"/>
          </a:p>
        </p:txBody>
      </p:sp>
      <p:sp>
        <p:nvSpPr>
          <p:cNvPr id="45" name="Text 36"/>
          <p:cNvSpPr txBox="1"/>
          <p:nvPr/>
        </p:nvSpPr>
        <p:spPr>
          <a:xfrm>
            <a:off x="6382512" y="5166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kerawanan; catatan penyelesaian masalah &amp; keadilan restoratif</a:t>
            </a:r>
            <a:endParaRPr lang="en-US" sz="1300" dirty="0"/>
          </a:p>
        </p:txBody>
      </p:sp>
      <p:sp>
        <p:nvSpPr>
          <p:cNvPr id="46" name="kartu-167"/>
          <p:cNvSpPr/>
          <p:nvPr/>
        </p:nvSpPr>
        <p:spPr>
          <a:xfrm>
            <a:off x="8997696" y="3886200"/>
            <a:ext cx="2633472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lingkar-168"/>
          <p:cNvSpPr/>
          <p:nvPr/>
        </p:nvSpPr>
        <p:spPr>
          <a:xfrm>
            <a:off x="9198864" y="40873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8" name="Image 7" descr="FaChartPi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5285" y="4253789"/>
            <a:ext cx="307238" cy="307238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735056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0" name="Text 40"/>
          <p:cNvSpPr txBox="1"/>
          <p:nvPr/>
        </p:nvSpPr>
        <p:spPr>
          <a:xfrm>
            <a:off x="9198864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100 Hari</a:t>
            </a:r>
            <a:endParaRPr lang="en-US" sz="1600" dirty="0"/>
          </a:p>
        </p:txBody>
      </p:sp>
      <p:sp>
        <p:nvSpPr>
          <p:cNvPr id="51" name="Text 41"/>
          <p:cNvSpPr txBox="1"/>
          <p:nvPr/>
        </p:nvSpPr>
        <p:spPr>
          <a:xfrm>
            <a:off x="9198864" y="5166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Pandangan komandan dan portal publik akuntabilitas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II · DASHBOARD AKUNTABILITAS 100 HARI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Pertanyaan yang Dijawab Data</a:t>
            </a:r>
            <a:endParaRPr lang="en-US" sz="3400" dirty="0"/>
          </a:p>
        </p:txBody>
      </p:sp>
      <p:sp>
        <p:nvSpPr>
          <p:cNvPr id="4" name="kartu-169"/>
          <p:cNvSpPr/>
          <p:nvPr/>
        </p:nvSpPr>
        <p:spPr>
          <a:xfrm>
            <a:off x="548640" y="1645920"/>
            <a:ext cx="3575304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warga yang dilayani?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tiket per kanal; kelompok rentan terlayani</a:t>
            </a:r>
            <a:endParaRPr lang="en-US" sz="1300" dirty="0"/>
          </a:p>
        </p:txBody>
      </p:sp>
      <p:sp>
        <p:nvSpPr>
          <p:cNvPr id="8" name="kartu-170"/>
          <p:cNvSpPr/>
          <p:nvPr/>
        </p:nvSpPr>
        <p:spPr>
          <a:xfrm>
            <a:off x="4306824" y="1645920"/>
            <a:ext cx="3575304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9704" y="1783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266944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cepat respons Polri?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dispatch 110 &lt; 2 menit; tiba di TKP &lt; 15 menit</a:t>
            </a:r>
            <a:endParaRPr lang="en-US" sz="1300" dirty="0"/>
          </a:p>
        </p:txBody>
      </p:sp>
      <p:sp>
        <p:nvSpPr>
          <p:cNvPr id="12" name="kartu-171"/>
          <p:cNvSpPr/>
          <p:nvPr/>
        </p:nvSpPr>
        <p:spPr>
          <a:xfrm>
            <a:off x="8065008" y="1645920"/>
            <a:ext cx="3575304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47888" y="1783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25128" y="1828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masalah yang selesai?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rate; keadilan restoratif; SP2HP tepat waktu</a:t>
            </a:r>
            <a:endParaRPr lang="en-US" sz="1300" dirty="0"/>
          </a:p>
        </p:txBody>
      </p:sp>
      <p:sp>
        <p:nvSpPr>
          <p:cNvPr id="16" name="kartu-172"/>
          <p:cNvSpPr/>
          <p:nvPr/>
        </p:nvSpPr>
        <p:spPr>
          <a:xfrm>
            <a:off x="548640" y="3520440"/>
            <a:ext cx="3575304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657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703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keluhan yang diperbaiki?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tuntas Dumas &amp; Propam; anomali pungli ditangani</a:t>
            </a:r>
            <a:endParaRPr lang="en-US" sz="1300" dirty="0"/>
          </a:p>
        </p:txBody>
      </p:sp>
      <p:sp>
        <p:nvSpPr>
          <p:cNvPr id="20" name="kartu-173"/>
          <p:cNvSpPr/>
          <p:nvPr/>
        </p:nvSpPr>
        <p:spPr>
          <a:xfrm>
            <a:off x="4306824" y="3520440"/>
            <a:ext cx="3575304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9704" y="3657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5266944" y="3703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belum berhasil?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4526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Satker gagal SLA; wilayah respons 110 lambat</a:t>
            </a:r>
            <a:endParaRPr lang="en-US" sz="1300" dirty="0"/>
          </a:p>
        </p:txBody>
      </p:sp>
      <p:sp>
        <p:nvSpPr>
          <p:cNvPr id="24" name="kartu-174"/>
          <p:cNvSpPr/>
          <p:nvPr/>
        </p:nvSpPr>
        <p:spPr>
          <a:xfrm>
            <a:off x="8065008" y="3520440"/>
            <a:ext cx="3575304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47888" y="3657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3703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akan diperbaiki?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4526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Redistribusi personel; armada di titik blind spot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membaik adalah modal, bukan alasan berpuas diri; yang belum berhasil ditampilkan terbuka sebagai komitmen perbaikan.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III · MANAGEMENT POSKO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Mengalir Setiap Hari dari Bawah</a:t>
            </a:r>
            <a:endParaRPr lang="en-US" sz="3400" dirty="0"/>
          </a:p>
        </p:txBody>
      </p:sp>
      <p:sp>
        <p:nvSpPr>
          <p:cNvPr id="4" name="kartu-175"/>
          <p:cNvSpPr/>
          <p:nvPr/>
        </p:nvSpPr>
        <p:spPr>
          <a:xfrm>
            <a:off x="1645920" y="1691640"/>
            <a:ext cx="18288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64592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MABES (PUSAT)</a:t>
            </a:r>
            <a:endParaRPr lang="en-US" sz="1600" dirty="0"/>
          </a:p>
        </p:txBody>
      </p:sp>
      <p:sp>
        <p:nvSpPr>
          <p:cNvPr id="6" name="kartu-176"/>
          <p:cNvSpPr/>
          <p:nvPr/>
        </p:nvSpPr>
        <p:spPr>
          <a:xfrm>
            <a:off x="1280160" y="2606040"/>
            <a:ext cx="256032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POLDA</a:t>
            </a:r>
            <a:endParaRPr lang="en-US" sz="1600" dirty="0"/>
          </a:p>
        </p:txBody>
      </p:sp>
      <p:sp>
        <p:nvSpPr>
          <p:cNvPr id="8" name="kartu-177"/>
          <p:cNvSpPr/>
          <p:nvPr/>
        </p:nvSpPr>
        <p:spPr>
          <a:xfrm>
            <a:off x="914400" y="3520440"/>
            <a:ext cx="329184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3520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POLRES</a:t>
            </a:r>
            <a:endParaRPr lang="en-US" sz="1600" dirty="0"/>
          </a:p>
        </p:txBody>
      </p:sp>
      <p:sp>
        <p:nvSpPr>
          <p:cNvPr id="10" name="kartu-178"/>
          <p:cNvSpPr/>
          <p:nvPr/>
        </p:nvSpPr>
        <p:spPr>
          <a:xfrm>
            <a:off x="548640" y="4434840"/>
            <a:ext cx="402336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rgbClr val="E0A5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4434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POLSEK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94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laporan naik berjenjang, tidak melompati tingkat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SETIAP LAPORAN</a:t>
            </a:r>
            <a:endParaRPr lang="en-US" sz="1400" dirty="0"/>
          </a:p>
        </p:txBody>
      </p:sp>
      <p:sp>
        <p:nvSpPr>
          <p:cNvPr id="14" name="kartu-179"/>
          <p:cNvSpPr/>
          <p:nvPr/>
        </p:nvSpPr>
        <p:spPr>
          <a:xfrm>
            <a:off x="4937760" y="2011680"/>
            <a:ext cx="118872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01168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kartu-180"/>
          <p:cNvSpPr/>
          <p:nvPr/>
        </p:nvSpPr>
        <p:spPr>
          <a:xfrm>
            <a:off x="6309360" y="2011680"/>
            <a:ext cx="118872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01168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kartu-181"/>
          <p:cNvSpPr/>
          <p:nvPr/>
        </p:nvSpPr>
        <p:spPr>
          <a:xfrm>
            <a:off x="7680960" y="2011680"/>
            <a:ext cx="118872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201168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kartu-182"/>
          <p:cNvSpPr/>
          <p:nvPr/>
        </p:nvSpPr>
        <p:spPr>
          <a:xfrm>
            <a:off x="9052560" y="2011680"/>
            <a:ext cx="118872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5256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Setujui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201168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kartu-183"/>
          <p:cNvSpPr/>
          <p:nvPr/>
        </p:nvSpPr>
        <p:spPr>
          <a:xfrm>
            <a:off x="10424160" y="2011680"/>
            <a:ext cx="118872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2416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Teruskan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670048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Dikembalikan untuk revisi bila belum sesuai — setiap versi dan tindakan tercatat</a:t>
            </a:r>
            <a:endParaRPr lang="en-US" sz="1300" dirty="0"/>
          </a:p>
        </p:txBody>
      </p:sp>
      <p:sp>
        <p:nvSpPr>
          <p:cNvPr id="29" name="kartu-184"/>
          <p:cNvSpPr/>
          <p:nvPr/>
        </p:nvSpPr>
        <p:spPr>
          <a:xfrm>
            <a:off x="4937760" y="3200400"/>
            <a:ext cx="3291840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lingkar-185"/>
          <p:cNvSpPr/>
          <p:nvPr/>
        </p:nvSpPr>
        <p:spPr>
          <a:xfrm>
            <a:off x="5120640" y="34747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0" descr="Fa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948" y="3653028"/>
            <a:ext cx="329184" cy="32918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9436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Dinamis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0" y="370332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laporan dan isiannya dapat dikonfigurasi pusat</a:t>
            </a:r>
            <a:endParaRPr lang="en-US" sz="1300" dirty="0"/>
          </a:p>
        </p:txBody>
      </p:sp>
      <p:sp>
        <p:nvSpPr>
          <p:cNvPr id="34" name="kartu-186"/>
          <p:cNvSpPr/>
          <p:nvPr/>
        </p:nvSpPr>
        <p:spPr>
          <a:xfrm>
            <a:off x="8348472" y="3200400"/>
            <a:ext cx="3291840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lingkar-187"/>
          <p:cNvSpPr/>
          <p:nvPr/>
        </p:nvSpPr>
        <p:spPr>
          <a:xfrm>
            <a:off x="8531352" y="34747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0" y="3653028"/>
            <a:ext cx="329184" cy="329184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9354312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Berjenjang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9354312" y="370332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otomatis; rekap ditandai bila sumber direvisi</a:t>
            </a:r>
            <a:endParaRPr lang="en-US" sz="1300" dirty="0"/>
          </a:p>
        </p:txBody>
      </p:sp>
      <p:sp>
        <p:nvSpPr>
          <p:cNvPr id="39" name="kartu-188"/>
          <p:cNvSpPr/>
          <p:nvPr/>
        </p:nvSpPr>
        <p:spPr>
          <a:xfrm>
            <a:off x="4937760" y="4663440"/>
            <a:ext cx="3291840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lingkar-189"/>
          <p:cNvSpPr/>
          <p:nvPr/>
        </p:nvSpPr>
        <p:spPr>
          <a:xfrm>
            <a:off x="5120640" y="4937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2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948" y="5116068"/>
            <a:ext cx="329184" cy="329184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594360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Nihil &amp; Kepatuhan</a:t>
            </a:r>
            <a:endParaRPr lang="en-US" sz="1600" dirty="0"/>
          </a:p>
        </p:txBody>
      </p:sp>
      <p:sp>
        <p:nvSpPr>
          <p:cNvPr id="43" name="Text 38"/>
          <p:cNvSpPr txBox="1"/>
          <p:nvPr/>
        </p:nvSpPr>
        <p:spPr>
          <a:xfrm>
            <a:off x="5943600" y="516636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nihil terkonfirmasi; pantau tenggat per satuan</a:t>
            </a:r>
            <a:endParaRPr lang="en-US" sz="1300" dirty="0"/>
          </a:p>
        </p:txBody>
      </p:sp>
      <p:sp>
        <p:nvSpPr>
          <p:cNvPr id="44" name="kartu-190"/>
          <p:cNvSpPr/>
          <p:nvPr/>
        </p:nvSpPr>
        <p:spPr>
          <a:xfrm>
            <a:off x="8348472" y="4663440"/>
            <a:ext cx="3291840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lingkar-191"/>
          <p:cNvSpPr/>
          <p:nvPr/>
        </p:nvSpPr>
        <p:spPr>
          <a:xfrm>
            <a:off x="8531352" y="4937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mage 3" descr="FaFileEx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0" y="5116068"/>
            <a:ext cx="329184" cy="329184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9354312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&amp; Ekspor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9354312" y="516636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mendesak didahulukan; ekspor PDF/Excel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KOMANDO PIMPINAN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Layar untuk Kapolri</a:t>
            </a:r>
            <a:endParaRPr lang="en-US" sz="3400" dirty="0"/>
          </a:p>
        </p:txBody>
      </p:sp>
      <p:sp>
        <p:nvSpPr>
          <p:cNvPr id="4" name="kartu-192"/>
          <p:cNvSpPr/>
          <p:nvPr/>
        </p:nvSpPr>
        <p:spPr>
          <a:xfrm>
            <a:off x="548640" y="1627632"/>
            <a:ext cx="6949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193"/>
          <p:cNvSpPr/>
          <p:nvPr/>
        </p:nvSpPr>
        <p:spPr>
          <a:xfrm>
            <a:off x="658368" y="171907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18736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276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Panas GIS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520440" y="1627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Sebaran tindak pidana dan kerawanan per wilayah secara langsung</a:t>
            </a:r>
            <a:endParaRPr lang="en-US" sz="1400" dirty="0"/>
          </a:p>
        </p:txBody>
      </p:sp>
      <p:sp>
        <p:nvSpPr>
          <p:cNvPr id="9" name="kartu-194"/>
          <p:cNvSpPr/>
          <p:nvPr/>
        </p:nvSpPr>
        <p:spPr>
          <a:xfrm>
            <a:off x="548640" y="2523744"/>
            <a:ext cx="6949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lingkar-195"/>
          <p:cNvSpPr/>
          <p:nvPr/>
        </p:nvSpPr>
        <p:spPr>
          <a:xfrm>
            <a:off x="658368" y="261518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2" y="276971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23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Kinerja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5237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rate, rata-rata waktu respons, tren aduan per kanal</a:t>
            </a:r>
            <a:endParaRPr lang="en-US" sz="1400" dirty="0"/>
          </a:p>
        </p:txBody>
      </p:sp>
      <p:sp>
        <p:nvSpPr>
          <p:cNvPr id="14" name="kartu-196"/>
          <p:cNvSpPr/>
          <p:nvPr/>
        </p:nvSpPr>
        <p:spPr>
          <a:xfrm>
            <a:off x="548640" y="3419856"/>
            <a:ext cx="6949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ingkar-197"/>
          <p:cNvSpPr/>
          <p:nvPr/>
        </p:nvSpPr>
        <p:spPr>
          <a:xfrm>
            <a:off x="658368" y="351129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2" y="366583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41985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Pantau SLA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20440" y="34198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Satker yang menahan perkara melewati batas waktu</a:t>
            </a:r>
            <a:endParaRPr lang="en-US" sz="1400" dirty="0"/>
          </a:p>
        </p:txBody>
      </p:sp>
      <p:sp>
        <p:nvSpPr>
          <p:cNvPr id="19" name="kartu-198"/>
          <p:cNvSpPr/>
          <p:nvPr/>
        </p:nvSpPr>
        <p:spPr>
          <a:xfrm>
            <a:off x="548640" y="4315968"/>
            <a:ext cx="6949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ingkar-199"/>
          <p:cNvSpPr/>
          <p:nvPr/>
        </p:nvSpPr>
        <p:spPr>
          <a:xfrm>
            <a:off x="658368" y="440740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2" y="45619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3159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Atensi Kapolri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520440" y="43159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perkara prioritas dengan instruksi taktis tertulis</a:t>
            </a:r>
            <a:endParaRPr lang="en-US" sz="1400" dirty="0"/>
          </a:p>
        </p:txBody>
      </p:sp>
      <p:sp>
        <p:nvSpPr>
          <p:cNvPr id="24" name="kartu-200"/>
          <p:cNvSpPr/>
          <p:nvPr/>
        </p:nvSpPr>
        <p:spPr>
          <a:xfrm>
            <a:off x="548640" y="5212080"/>
            <a:ext cx="6949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ingkar-201"/>
          <p:cNvSpPr/>
          <p:nvPr/>
        </p:nvSpPr>
        <p:spPr>
          <a:xfrm>
            <a:off x="658368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aSitem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2" y="54580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212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Telusur Berjenjang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352044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Polda ke Polres, Polsek, hingga penyidik penanggung jawab</a:t>
            </a:r>
            <a:endParaRPr lang="en-US" sz="1400" dirty="0"/>
          </a:p>
        </p:txBody>
      </p:sp>
      <p:sp>
        <p:nvSpPr>
          <p:cNvPr id="29" name="kartu-202"/>
          <p:cNvSpPr/>
          <p:nvPr/>
        </p:nvSpPr>
        <p:spPr>
          <a:xfrm>
            <a:off x="7772400" y="1627632"/>
            <a:ext cx="3867912" cy="4361688"/>
          </a:xfrm>
          <a:prstGeom prst="roundRect">
            <a:avLst>
              <a:gd name="adj" fmla="val 283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lingkar-203"/>
          <p:cNvSpPr/>
          <p:nvPr/>
        </p:nvSpPr>
        <p:spPr>
          <a:xfrm>
            <a:off x="8092440" y="19202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FaBroadcastTow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522" y="212232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924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Perintah mengalir melalui garis komando.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09244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mengalir setiap hari melalui sistem.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8092440" y="4480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melihat yang dialami warga — tanpa menunggu laporan berkala.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DATA · UU NO. 27 TAHUN 2022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Kewenangan Besar, Pengawasan Kuat</a:t>
            </a:r>
            <a:endParaRPr lang="en-US" sz="3400" dirty="0"/>
          </a:p>
        </p:txBody>
      </p:sp>
      <p:sp>
        <p:nvSpPr>
          <p:cNvPr id="4" name="kartu-204"/>
          <p:cNvSpPr/>
          <p:nvPr/>
        </p:nvSpPr>
        <p:spPr>
          <a:xfrm>
            <a:off x="548640" y="1645920"/>
            <a:ext cx="3575304" cy="3794760"/>
          </a:xfrm>
          <a:prstGeom prst="roundRect">
            <a:avLst>
              <a:gd name="adj" fmla="val 3069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205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LINDUNGI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Pribadi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disimpan terenkripsi AES-256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&amp; nomor HP disamarkan di layar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kerahasiaan whistleblower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digital di penyimpanan privat</a:t>
            </a:r>
            <a:endParaRPr lang="en-US" sz="1600" dirty="0"/>
          </a:p>
        </p:txBody>
      </p:sp>
      <p:sp>
        <p:nvSpPr>
          <p:cNvPr id="10" name="kartu-206"/>
          <p:cNvSpPr/>
          <p:nvPr/>
        </p:nvSpPr>
        <p:spPr>
          <a:xfrm>
            <a:off x="4306824" y="1645920"/>
            <a:ext cx="3575304" cy="3794760"/>
          </a:xfrm>
          <a:prstGeom prst="roundRect">
            <a:avLst>
              <a:gd name="adj" fmla="val 3069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lingkar-207"/>
          <p:cNvSpPr/>
          <p:nvPr/>
        </p:nvSpPr>
        <p:spPr>
          <a:xfrm>
            <a:off x="4581144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226" y="21223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41264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541264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Akses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81144" y="29718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per peran dan per wilayah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Pembatasan wilayah di tingkat query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Superadmin terpisah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Proteksi CSRF, sesi, dan percobaan login</a:t>
            </a:r>
            <a:endParaRPr lang="en-US" sz="1600" dirty="0"/>
          </a:p>
        </p:txBody>
      </p:sp>
      <p:sp>
        <p:nvSpPr>
          <p:cNvPr id="16" name="kartu-208"/>
          <p:cNvSpPr/>
          <p:nvPr/>
        </p:nvSpPr>
        <p:spPr>
          <a:xfrm>
            <a:off x="8065008" y="1645920"/>
            <a:ext cx="3575304" cy="3794760"/>
          </a:xfrm>
          <a:prstGeom prst="roundRect">
            <a:avLst>
              <a:gd name="adj" fmla="val 3069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lingkar-209"/>
          <p:cNvSpPr/>
          <p:nvPr/>
        </p:nvSpPr>
        <p:spPr>
          <a:xfrm>
            <a:off x="8339328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Fa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410" y="21223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99448" y="1938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299448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Akses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39328" y="29718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data pelapor wajib alasan dinas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audit NRP, IP, dan waktu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akses lintas yurisdiksi</a:t>
            </a:r>
            <a:endParaRPr lang="en-US" sz="16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Itwasum/Propam memantau independen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Pengawas tidak mengambil alih keputusan teknis — tetapi setiap akses dapat ditelusuri dan dipertanggungjawabkan.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TEKNIS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Dipasang, Dikelola, dan Diuji</a:t>
            </a:r>
            <a:endParaRPr lang="en-US" sz="3400" dirty="0"/>
          </a:p>
        </p:txBody>
      </p:sp>
      <p:sp>
        <p:nvSpPr>
          <p:cNvPr id="4" name="kartu-210"/>
          <p:cNvSpPr/>
          <p:nvPr/>
        </p:nvSpPr>
        <p:spPr>
          <a:xfrm>
            <a:off x="548640" y="1645920"/>
            <a:ext cx="5449824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ingkar-211"/>
          <p:cNvSpPr/>
          <p:nvPr/>
        </p:nvSpPr>
        <p:spPr>
          <a:xfrm>
            <a:off x="804672" y="1901952"/>
            <a:ext cx="786384" cy="786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2" y="2106412"/>
            <a:ext cx="377464" cy="377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1810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Ringan &amp; Mandiri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2128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native MVC dan MySQL; berjalan di server instansi atau cPanel</a:t>
            </a:r>
            <a:endParaRPr lang="en-US" sz="1400" dirty="0"/>
          </a:p>
        </p:txBody>
      </p:sp>
      <p:sp>
        <p:nvSpPr>
          <p:cNvPr id="9" name="kartu-212"/>
          <p:cNvSpPr/>
          <p:nvPr/>
        </p:nvSpPr>
        <p:spPr>
          <a:xfrm>
            <a:off x="6190488" y="1645920"/>
            <a:ext cx="5449824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lingkar-213"/>
          <p:cNvSpPr/>
          <p:nvPr/>
        </p:nvSpPr>
        <p:spPr>
          <a:xfrm>
            <a:off x="6446520" y="1901952"/>
            <a:ext cx="786384" cy="786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Toggle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980" y="2106412"/>
            <a:ext cx="377464" cy="377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810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Dapat Diatur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2128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menyalakan atau mematikan modul dan menu tanpa ubah kode</a:t>
            </a:r>
            <a:endParaRPr lang="en-US" sz="1400" dirty="0"/>
          </a:p>
        </p:txBody>
      </p:sp>
      <p:sp>
        <p:nvSpPr>
          <p:cNvPr id="14" name="kartu-214"/>
          <p:cNvSpPr/>
          <p:nvPr/>
        </p:nvSpPr>
        <p:spPr>
          <a:xfrm>
            <a:off x="548640" y="3127248"/>
            <a:ext cx="5449824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ingkar-215"/>
          <p:cNvSpPr/>
          <p:nvPr/>
        </p:nvSpPr>
        <p:spPr>
          <a:xfrm>
            <a:off x="804672" y="3383280"/>
            <a:ext cx="786384" cy="786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2" y="3587740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Pemasangan Terpandu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36941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web dan paket deploy cPanel dengan panduan lengkap</a:t>
            </a:r>
            <a:endParaRPr lang="en-US" sz="1400" dirty="0"/>
          </a:p>
        </p:txBody>
      </p:sp>
      <p:sp>
        <p:nvSpPr>
          <p:cNvPr id="19" name="kartu-216"/>
          <p:cNvSpPr/>
          <p:nvPr/>
        </p:nvSpPr>
        <p:spPr>
          <a:xfrm>
            <a:off x="6190488" y="3127248"/>
            <a:ext cx="5449824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ingkar-217"/>
          <p:cNvSpPr/>
          <p:nvPr/>
        </p:nvSpPr>
        <p:spPr>
          <a:xfrm>
            <a:off x="6446520" y="3383280"/>
            <a:ext cx="786384" cy="786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80" y="3587740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Dua Mode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36941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untuk uji lokal; Live untuk 110, e-MP, SMS, dan OJK</a:t>
            </a:r>
            <a:endParaRPr lang="en-US" sz="1400" dirty="0"/>
          </a:p>
        </p:txBody>
      </p:sp>
      <p:sp>
        <p:nvSpPr>
          <p:cNvPr id="24" name="kartu-218"/>
          <p:cNvSpPr/>
          <p:nvPr/>
        </p:nvSpPr>
        <p:spPr>
          <a:xfrm>
            <a:off x="548640" y="4608576"/>
            <a:ext cx="5449824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ingkar-219"/>
          <p:cNvSpPr/>
          <p:nvPr/>
        </p:nvSpPr>
        <p:spPr>
          <a:xfrm>
            <a:off x="804672" y="4864608"/>
            <a:ext cx="786384" cy="786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aStrea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32" y="5069068"/>
            <a:ext cx="377464" cy="377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10512" y="47731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810512" y="5175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status menjadi event permanen yang dapat diaudit</a:t>
            </a:r>
            <a:endParaRPr lang="en-US" sz="1400" dirty="0"/>
          </a:p>
        </p:txBody>
      </p:sp>
      <p:sp>
        <p:nvSpPr>
          <p:cNvPr id="29" name="kartu-220"/>
          <p:cNvSpPr/>
          <p:nvPr/>
        </p:nvSpPr>
        <p:spPr>
          <a:xfrm>
            <a:off x="6190488" y="4608576"/>
            <a:ext cx="5449824" cy="1298448"/>
          </a:xfrm>
          <a:prstGeom prst="roundRect">
            <a:avLst>
              <a:gd name="adj" fmla="val 8451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lingkar-221"/>
          <p:cNvSpPr/>
          <p:nvPr/>
        </p:nvSpPr>
        <p:spPr>
          <a:xfrm>
            <a:off x="6446520" y="4864608"/>
            <a:ext cx="786384" cy="7863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FaVi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980" y="5069068"/>
            <a:ext cx="377464" cy="377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452360" y="47731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Otomatis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7452360" y="5175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171+ uji unit dan integrasi dijalankan sebelum setiap rilis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926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TAHAPAN PELAKSANAAN</a:t>
            </a:r>
            <a:endParaRPr lang="en-US" sz="1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Seratus Hari, Tiga Tahap</a:t>
            </a:r>
            <a:endParaRPr lang="en-US" sz="3400" dirty="0"/>
          </a:p>
        </p:txBody>
      </p:sp>
      <p:sp>
        <p:nvSpPr>
          <p:cNvPr id="4" name="fase-1"/>
          <p:cNvSpPr/>
          <p:nvPr/>
        </p:nvSpPr>
        <p:spPr>
          <a:xfrm>
            <a:off x="548640" y="1645920"/>
            <a:ext cx="3749040" cy="822960"/>
          </a:xfrm>
          <a:prstGeom prst="homePlat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I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1–30</a:t>
            </a:r>
            <a:endParaRPr lang="en-US" sz="1700" dirty="0"/>
          </a:p>
        </p:txBody>
      </p:sp>
      <p:sp>
        <p:nvSpPr>
          <p:cNvPr id="6" name="kartu-222"/>
          <p:cNvSpPr/>
          <p:nvPr/>
        </p:nvSpPr>
        <p:spPr>
          <a:xfrm>
            <a:off x="548640" y="2651760"/>
            <a:ext cx="3575304" cy="25146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Data &amp; Mesin Lacak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baseline dari data 110, e-MP, Dumas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data terpadu dan enkripsi PDP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nomor lacak &amp; event bus</a:t>
            </a:r>
            <a:endParaRPr lang="en-US" sz="1500" dirty="0"/>
          </a:p>
        </p:txBody>
      </p:sp>
      <p:sp>
        <p:nvSpPr>
          <p:cNvPr id="9" name="fase-2"/>
          <p:cNvSpPr/>
          <p:nvPr/>
        </p:nvSpPr>
        <p:spPr>
          <a:xfrm>
            <a:off x="4306824" y="1645920"/>
            <a:ext cx="3749040" cy="82296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84064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II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31–60</a:t>
            </a:r>
            <a:endParaRPr lang="en-US" sz="1700" dirty="0"/>
          </a:p>
        </p:txBody>
      </p:sp>
      <p:sp>
        <p:nvSpPr>
          <p:cNvPr id="11" name="kartu-223"/>
          <p:cNvSpPr/>
          <p:nvPr/>
        </p:nvSpPr>
        <p:spPr>
          <a:xfrm>
            <a:off x="4306824" y="2651760"/>
            <a:ext cx="3575304" cy="25146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81144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Coba 5 Polres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35204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Pelacak &amp; SP2HP otomatis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Triase &amp; dispatch 110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perkara; baseline vs pilot</a:t>
            </a:r>
            <a:endParaRPr lang="en-US" sz="1500" dirty="0"/>
          </a:p>
        </p:txBody>
      </p:sp>
      <p:sp>
        <p:nvSpPr>
          <p:cNvPr id="14" name="fase-3"/>
          <p:cNvSpPr/>
          <p:nvPr/>
        </p:nvSpPr>
        <p:spPr>
          <a:xfrm>
            <a:off x="8065008" y="1645920"/>
            <a:ext cx="3749040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42248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III 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61–100</a:t>
            </a:r>
            <a:endParaRPr lang="en-US" sz="1700" dirty="0"/>
          </a:p>
        </p:txBody>
      </p:sp>
      <p:sp>
        <p:nvSpPr>
          <p:cNvPr id="16" name="kartu-224"/>
          <p:cNvSpPr/>
          <p:nvPr/>
        </p:nvSpPr>
        <p:spPr>
          <a:xfrm>
            <a:off x="8065008" y="2651760"/>
            <a:ext cx="3575304" cy="2514600"/>
          </a:xfrm>
          <a:prstGeom prst="roundRect">
            <a:avLst>
              <a:gd name="adj" fmla="val 4364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39328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Terbuka &amp; Perluasan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5204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terbuka hal yang belum berhasil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SPKT ramah korban, Dumas, siber, Bhabin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publik tepat hari ke-100</a:t>
            </a:r>
            <a:endParaRPr lang="en-US" sz="1500" dirty="0"/>
          </a:p>
        </p:txBody>
      </p:sp>
      <p:sp>
        <p:nvSpPr>
          <p:cNvPr id="19" name="kartu-225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ingkar-226"/>
          <p:cNvSpPr/>
          <p:nvPr/>
        </p:nvSpPr>
        <p:spPr>
          <a:xfrm>
            <a:off x="731520" y="54406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mage 0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5595214"/>
            <a:ext cx="285293" cy="28529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4924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pengembangan: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&amp; Dumas, Omnichat, Satu Nomor v1.3 (8 modul), dan Management Posko tahap 1–5 telah terbangun dan teruji; tahap 6 (REST API, keamanan lanjutan, UAT) berjalan.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Polisi Bersama Masyarak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3017520" cy="370423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80560" y="91440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nomor untuk warga, satu jejak untuk akuntabilitas, satu layar untuk pimpinan.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480560" y="2834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masuk melalui satu pintu.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Perkembangan dikabarkan tanpa diminta.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 diukur dari hasil, bukan kegiatan.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4434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POLISI BERSAMA MASYARAKAT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AP Maroon Emas">
  <a:themeElements>
    <a:clrScheme name="SIGAP Maroon Emas">
      <a:dk1>
        <a:srgbClr val="2A0606"/>
      </a:dk1>
      <a:lt1>
        <a:srgbClr val="FFFFFF"/>
      </a:lt1>
      <a:dk2>
        <a:srgbClr val="4A0E0E"/>
      </a:dk2>
      <a:lt2>
        <a:srgbClr val="FFF3D6"/>
      </a:lt2>
      <a:accent1>
        <a:srgbClr val="E0A526"/>
      </a:accent1>
      <a:accent2>
        <a:srgbClr val="F6D57A"/>
      </a:accent2>
      <a:accent3>
        <a:srgbClr val="6B1616"/>
      </a:accent3>
      <a:accent4>
        <a:srgbClr val="8C2A1E"/>
      </a:accent4>
      <a:accent5>
        <a:srgbClr val="C0392B"/>
      </a:accent5>
      <a:accent6>
        <a:srgbClr val="3E8E5A"/>
      </a:accent6>
      <a:hlink>
        <a:srgbClr val="F6D57A"/>
      </a:hlink>
      <a:folHlink>
        <a:srgbClr val="E0A526"/>
      </a:folHlink>
    </a:clrScheme>
    <a:fontScheme name="SIGAP Maroon Em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Sistem SIGAP-POLRI</dc:title>
  <dc:subject>Sistem Integrasi Pengaduan &amp; Dumas Terpadu Polri</dc:subject>
  <dc:creator>Tim Pengembang SIGAP-POLRI</dc:creator>
  <cp:lastModifiedBy>Tim Pengembang SIGAP-POLRI</cp:lastModifiedBy>
  <cp:revision>1</cp:revision>
  <dcterms:created xsi:type="dcterms:W3CDTF">2026-10-20T14:30:57Z</dcterms:created>
  <dcterms:modified xsi:type="dcterms:W3CDTF">2026-10-20T14:30:57Z</dcterms:modified>
</cp:coreProperties>
</file>